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FFE2047-4E4A-49CF-98B8-38583B1CAD87}">
          <p14:sldIdLst>
            <p14:sldId id="256"/>
            <p14:sldId id="257"/>
            <p14:sldId id="258"/>
            <p14:sldId id="259"/>
            <p14:sldId id="260"/>
            <p14:sldId id="261"/>
            <p14:sldId id="262"/>
            <p14:sldId id="263"/>
            <p14:sldId id="264"/>
            <p14:sldId id="265"/>
            <p14:sldId id="266"/>
            <p14:sldId id="267"/>
          </p14:sldIdLst>
        </p14:section>
        <p14:section name="Untitled Section" id="{B248823C-347A-4CAB-AFF8-99CF89378664}">
          <p14:sldIdLst>
            <p14:sldId id="268"/>
            <p14:sldId id="269"/>
            <p14:sldId id="270"/>
            <p14:sldId id="271"/>
            <p14:sldId id="272"/>
            <p14:sldId id="273"/>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10"/>
  </p:normalViewPr>
  <p:slideViewPr>
    <p:cSldViewPr snapToGrid="0" snapToObjects="1">
      <p:cViewPr varScale="1">
        <p:scale>
          <a:sx n="103" d="100"/>
          <a:sy n="103" d="100"/>
        </p:scale>
        <p:origin x="89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019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925250"/>
            <a:ext cx="8229600" cy="731520"/>
          </a:xfrm>
          <a:prstGeom prst="rect">
            <a:avLst/>
          </a:prstGeom>
          <a:noFill/>
          <a:ln/>
        </p:spPr>
        <p:txBody>
          <a:bodyPr wrap="square" rtlCol="0" anchor="ctr"/>
          <a:lstStyle/>
          <a:p>
            <a:pPr marL="0" indent="0" algn="ctr">
              <a:buNone/>
            </a:pPr>
            <a:r>
              <a:rPr lang="en-US" sz="6000" b="1" dirty="0">
                <a:solidFill>
                  <a:srgbClr val="FFFFFF"/>
                </a:solidFill>
                <a:latin typeface="Times New Roman" panose="02020603050405020304" pitchFamily="18" charset="0"/>
                <a:ea typeface="Arial Black" pitchFamily="34" charset="-122"/>
                <a:cs typeface="Times New Roman" panose="02020603050405020304" pitchFamily="18" charset="0"/>
              </a:rPr>
              <a:t>GAGAN NETRA</a:t>
            </a:r>
            <a:endParaRPr lang="en-US" sz="6000" dirty="0">
              <a:latin typeface="Times New Roman" panose="02020603050405020304" pitchFamily="18" charset="0"/>
              <a:cs typeface="Times New Roman" panose="02020603050405020304" pitchFamily="18" charset="0"/>
            </a:endParaRPr>
          </a:p>
        </p:txBody>
      </p:sp>
      <p:sp>
        <p:nvSpPr>
          <p:cNvPr id="3" name="Text 1"/>
          <p:cNvSpPr/>
          <p:nvPr/>
        </p:nvSpPr>
        <p:spPr>
          <a:xfrm>
            <a:off x="457200" y="1698513"/>
            <a:ext cx="8229600" cy="461772"/>
          </a:xfrm>
          <a:prstGeom prst="rect">
            <a:avLst/>
          </a:prstGeom>
          <a:noFill/>
          <a:ln/>
        </p:spPr>
        <p:txBody>
          <a:bodyPr wrap="square" rtlCol="0" anchor="ctr"/>
          <a:lstStyle/>
          <a:p>
            <a:pPr marL="0" indent="0" algn="ctr">
              <a:buNone/>
            </a:pPr>
            <a:r>
              <a:rPr lang="en-US" sz="2400" i="1" dirty="0">
                <a:solidFill>
                  <a:srgbClr val="02C39A"/>
                </a:solidFill>
                <a:latin typeface="Times New Roman" panose="02020603050405020304" pitchFamily="18" charset="0"/>
                <a:ea typeface="Arial" pitchFamily="34" charset="-122"/>
                <a:cs typeface="Times New Roman" panose="02020603050405020304" pitchFamily="18" charset="0"/>
              </a:rPr>
              <a:t>City's Eye, People's Safety</a:t>
            </a:r>
            <a:endParaRPr lang="en-US" sz="2400" dirty="0">
              <a:latin typeface="Times New Roman" panose="02020603050405020304" pitchFamily="18" charset="0"/>
              <a:cs typeface="Times New Roman" panose="02020603050405020304" pitchFamily="18" charset="0"/>
            </a:endParaRPr>
          </a:p>
        </p:txBody>
      </p:sp>
      <p:sp>
        <p:nvSpPr>
          <p:cNvPr id="4" name="Text 2"/>
          <p:cNvSpPr/>
          <p:nvPr/>
        </p:nvSpPr>
        <p:spPr>
          <a:xfrm>
            <a:off x="1387098" y="2276532"/>
            <a:ext cx="6400800" cy="365760"/>
          </a:xfrm>
          <a:prstGeom prst="rect">
            <a:avLst/>
          </a:prstGeom>
          <a:noFill/>
          <a:ln/>
        </p:spPr>
        <p:txBody>
          <a:bodyPr wrap="square" rtlCol="0" anchor="ctr"/>
          <a:lstStyle/>
          <a:p>
            <a:pPr marL="0" indent="0" algn="ctr">
              <a:buNone/>
            </a:pPr>
            <a:r>
              <a:rPr lang="en-US" sz="1400" dirty="0">
                <a:solidFill>
                  <a:srgbClr val="00A896"/>
                </a:solidFill>
                <a:latin typeface="Times New Roman" panose="02020603050405020304" pitchFamily="18" charset="0"/>
                <a:ea typeface="Arial" pitchFamily="34" charset="-122"/>
                <a:cs typeface="Times New Roman" panose="02020603050405020304" pitchFamily="18" charset="0"/>
              </a:rPr>
              <a:t>Autonomous Aerial Monitoring for Urban Air Quality &amp; Civic Safety</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1828800" y="3263257"/>
            <a:ext cx="5486400" cy="73152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Team Members
</a:t>
            </a:r>
            <a:endParaRPr lang="en-US" sz="1200" b="1"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Aditya Sharma (250840143003) | Pradhyuman Kumar (250840143009)
</a:t>
            </a:r>
            <a:endParaRPr lang="en-US" sz="1200" b="1"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Pratik Mahule (250840143011) | Shreyash Jane (250840143012)</a:t>
            </a:r>
            <a:endParaRPr lang="en-US" sz="1200" b="1" dirty="0">
              <a:latin typeface="Times New Roman" panose="02020603050405020304" pitchFamily="18" charset="0"/>
              <a:cs typeface="Times New Roman" panose="02020603050405020304" pitchFamily="18" charset="0"/>
            </a:endParaRPr>
          </a:p>
        </p:txBody>
      </p:sp>
      <p:sp>
        <p:nvSpPr>
          <p:cNvPr id="6" name="Text 4"/>
          <p:cNvSpPr/>
          <p:nvPr/>
        </p:nvSpPr>
        <p:spPr>
          <a:xfrm>
            <a:off x="457200" y="4663440"/>
            <a:ext cx="8229600" cy="274320"/>
          </a:xfrm>
          <a:prstGeom prst="rect">
            <a:avLst/>
          </a:prstGeom>
          <a:noFill/>
          <a:ln/>
        </p:spPr>
        <p:txBody>
          <a:bodyPr wrap="square" rtlCol="0" anchor="ctr"/>
          <a:lstStyle/>
          <a:p>
            <a:pPr marL="0" indent="0" algn="ctr">
              <a:buNone/>
            </a:pPr>
            <a:r>
              <a:rPr lang="en-US" b="1" dirty="0">
                <a:solidFill>
                  <a:srgbClr val="6C757D"/>
                </a:solidFill>
                <a:latin typeface="Times New Roman" panose="02020603050405020304" pitchFamily="18" charset="0"/>
                <a:ea typeface="Arial" pitchFamily="34" charset="-122"/>
                <a:cs typeface="Times New Roman" panose="02020603050405020304" pitchFamily="18" charset="0"/>
              </a:rPr>
              <a:t>C-DAC ACTS, Pune | PG-DUASP</a:t>
            </a:r>
            <a:endParaRPr 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599441" y="171063"/>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CONTENTS</a:t>
            </a:r>
            <a:endParaRPr lang="en-US" sz="3800" dirty="0">
              <a:latin typeface="Times New Roman" panose="02020603050405020304" pitchFamily="18" charset="0"/>
              <a:cs typeface="Times New Roman" panose="02020603050405020304" pitchFamily="18" charset="0"/>
            </a:endParaRPr>
          </a:p>
        </p:txBody>
      </p:sp>
      <p:sp>
        <p:nvSpPr>
          <p:cNvPr id="3" name="Shape 1"/>
          <p:cNvSpPr/>
          <p:nvPr/>
        </p:nvSpPr>
        <p:spPr>
          <a:xfrm>
            <a:off x="599441" y="673983"/>
            <a:ext cx="1828800" cy="45720"/>
          </a:xfrm>
          <a:prstGeom prst="rect">
            <a:avLst/>
          </a:prstGeom>
          <a:solidFill>
            <a:srgbClr val="028090"/>
          </a:solidFill>
          <a:ln/>
        </p:spPr>
        <p:txBody>
          <a:bodyPr/>
          <a:lstStyle/>
          <a:p>
            <a:endParaRPr lang="en-IN"/>
          </a:p>
        </p:txBody>
      </p:sp>
      <p:sp>
        <p:nvSpPr>
          <p:cNvPr id="33" name="Text 31"/>
          <p:cNvSpPr/>
          <p:nvPr/>
        </p:nvSpPr>
        <p:spPr>
          <a:xfrm>
            <a:off x="531708" y="2933966"/>
            <a:ext cx="7315200" cy="457200"/>
          </a:xfrm>
          <a:prstGeom prst="rect">
            <a:avLst/>
          </a:prstGeom>
          <a:noFill/>
          <a:ln/>
        </p:spPr>
        <p:txBody>
          <a:bodyPr wrap="square" rtlCol="0" anchor="ctr"/>
          <a:lstStyle/>
          <a:p>
            <a:pPr marL="342900" indent="-342900">
              <a:buAutoNum type="arabicParenR"/>
            </a:pPr>
            <a:r>
              <a:rPr lang="en-US" sz="1600" dirty="0">
                <a:latin typeface="Times New Roman" panose="02020603050405020304" pitchFamily="18" charset="0"/>
                <a:cs typeface="Times New Roman" panose="02020603050405020304" pitchFamily="18" charset="0"/>
              </a:rPr>
              <a:t>Introduction</a:t>
            </a:r>
          </a:p>
          <a:p>
            <a:pPr marL="342900" indent="-342900">
              <a:buAutoNum type="arabicParenR"/>
            </a:pPr>
            <a:r>
              <a:rPr lang="en-US" sz="1600" dirty="0">
                <a:latin typeface="Times New Roman" panose="02020603050405020304" pitchFamily="18" charset="0"/>
                <a:cs typeface="Times New Roman" panose="02020603050405020304" pitchFamily="18" charset="0"/>
              </a:rPr>
              <a:t>The Problem Statement</a:t>
            </a:r>
          </a:p>
          <a:p>
            <a:pPr marL="342900" indent="-342900">
              <a:buAutoNum type="arabicParenR"/>
            </a:pPr>
            <a:r>
              <a:rPr lang="en-US" sz="1600" dirty="0">
                <a:latin typeface="Times New Roman" panose="02020603050405020304" pitchFamily="18" charset="0"/>
                <a:cs typeface="Times New Roman" panose="02020603050405020304" pitchFamily="18" charset="0"/>
              </a:rPr>
              <a:t>Motivation &amp; Content</a:t>
            </a:r>
          </a:p>
          <a:p>
            <a:pPr marL="342900" indent="-342900">
              <a:buAutoNum type="arabicParenR"/>
            </a:pPr>
            <a:r>
              <a:rPr lang="en-US" sz="1600" dirty="0">
                <a:latin typeface="Times New Roman" panose="02020603050405020304" pitchFamily="18" charset="0"/>
                <a:cs typeface="Times New Roman" panose="02020603050405020304" pitchFamily="18" charset="0"/>
              </a:rPr>
              <a:t>Aim &amp; Objective</a:t>
            </a:r>
          </a:p>
          <a:p>
            <a:pPr marL="342900" indent="-342900">
              <a:buAutoNum type="arabicParenR"/>
            </a:pPr>
            <a:r>
              <a:rPr lang="en-US" sz="1600" dirty="0">
                <a:latin typeface="Times New Roman" panose="02020603050405020304" pitchFamily="18" charset="0"/>
                <a:cs typeface="Times New Roman" panose="02020603050405020304" pitchFamily="18" charset="0"/>
              </a:rPr>
              <a:t>System Overview</a:t>
            </a:r>
          </a:p>
          <a:p>
            <a:pPr marL="342900" indent="-342900">
              <a:buAutoNum type="arabicParenR"/>
            </a:pPr>
            <a:r>
              <a:rPr lang="en-US" sz="1600" dirty="0">
                <a:latin typeface="Times New Roman" panose="02020603050405020304" pitchFamily="18" charset="0"/>
                <a:cs typeface="Times New Roman" panose="02020603050405020304" pitchFamily="18" charset="0"/>
              </a:rPr>
              <a:t>System Architecture</a:t>
            </a:r>
          </a:p>
          <a:p>
            <a:pPr marL="342900" indent="-342900">
              <a:buFontTx/>
              <a:buAutoNum type="arabicParenR"/>
            </a:pPr>
            <a:r>
              <a:rPr lang="en-US" sz="1600" dirty="0">
                <a:latin typeface="Times New Roman" panose="02020603050405020304" pitchFamily="18" charset="0"/>
                <a:cs typeface="Times New Roman" panose="02020603050405020304" pitchFamily="18" charset="0"/>
              </a:rPr>
              <a:t>Hardware: Flight Platform/Sensor Fusion</a:t>
            </a:r>
          </a:p>
          <a:p>
            <a:pPr marL="342900" indent="-342900">
              <a:buAutoNum type="arabicParenR"/>
            </a:pPr>
            <a:r>
              <a:rPr lang="en-US" sz="1600" dirty="0">
                <a:latin typeface="Times New Roman" panose="02020603050405020304" pitchFamily="18" charset="0"/>
                <a:cs typeface="Times New Roman" panose="02020603050405020304" pitchFamily="18" charset="0"/>
              </a:rPr>
              <a:t>Software &amp; AI Stack</a:t>
            </a:r>
          </a:p>
          <a:p>
            <a:pPr marL="342900" indent="-342900">
              <a:buAutoNum type="arabicParenR"/>
            </a:pPr>
            <a:r>
              <a:rPr lang="en-US" sz="1600" dirty="0">
                <a:latin typeface="Times New Roman" panose="02020603050405020304" pitchFamily="18" charset="0"/>
                <a:cs typeface="Times New Roman" panose="02020603050405020304" pitchFamily="18" charset="0"/>
              </a:rPr>
              <a:t>System Workflow </a:t>
            </a:r>
          </a:p>
          <a:p>
            <a:pPr marL="342900" indent="-342900">
              <a:buAutoNum type="arabicParenR"/>
            </a:pPr>
            <a:r>
              <a:rPr lang="en-US" sz="1600" dirty="0">
                <a:latin typeface="Times New Roman" panose="02020603050405020304" pitchFamily="18" charset="0"/>
                <a:cs typeface="Times New Roman" panose="02020603050405020304" pitchFamily="18" charset="0"/>
              </a:rPr>
              <a:t>AI Models &amp; Detection </a:t>
            </a:r>
          </a:p>
          <a:p>
            <a:pPr marL="342900" indent="-342900">
              <a:buAutoNum type="arabicParenR"/>
            </a:pPr>
            <a:r>
              <a:rPr lang="en-US" sz="1600" dirty="0">
                <a:latin typeface="Times New Roman" panose="02020603050405020304" pitchFamily="18" charset="0"/>
                <a:cs typeface="Times New Roman" panose="02020603050405020304" pitchFamily="18" charset="0"/>
              </a:rPr>
              <a:t>Key Features &amp; Innovations</a:t>
            </a:r>
          </a:p>
          <a:p>
            <a:pPr marL="342900" indent="-342900">
              <a:buAutoNum type="arabicParenR"/>
            </a:pPr>
            <a:r>
              <a:rPr lang="en-US" sz="1600" dirty="0">
                <a:latin typeface="Times New Roman" panose="02020603050405020304" pitchFamily="18" charset="0"/>
                <a:cs typeface="Times New Roman" panose="02020603050405020304" pitchFamily="18" charset="0"/>
              </a:rPr>
              <a:t>Dashboard &amp; Visualization</a:t>
            </a:r>
          </a:p>
          <a:p>
            <a:pPr marL="342900" indent="-342900">
              <a:buAutoNum type="arabicParenR"/>
            </a:pPr>
            <a:r>
              <a:rPr lang="en-US" sz="1600" dirty="0">
                <a:latin typeface="Times New Roman" panose="02020603050405020304" pitchFamily="18" charset="0"/>
                <a:cs typeface="Times New Roman" panose="02020603050405020304" pitchFamily="18" charset="0"/>
              </a:rPr>
              <a:t>Security &amp; Resilience</a:t>
            </a:r>
          </a:p>
          <a:p>
            <a:pPr marL="342900" indent="-342900">
              <a:buAutoNum type="arabicParenR"/>
            </a:pPr>
            <a:r>
              <a:rPr lang="en-US" sz="1600" dirty="0">
                <a:latin typeface="Times New Roman" panose="02020603050405020304" pitchFamily="18" charset="0"/>
                <a:cs typeface="Times New Roman" panose="02020603050405020304" pitchFamily="18" charset="0"/>
              </a:rPr>
              <a:t>Benefits &amp; Impact</a:t>
            </a:r>
          </a:p>
          <a:p>
            <a:pPr marL="342900" indent="-342900">
              <a:buAutoNum type="arabicParenR"/>
            </a:pPr>
            <a:r>
              <a:rPr lang="en-US" sz="1600" dirty="0">
                <a:latin typeface="Times New Roman" panose="02020603050405020304" pitchFamily="18" charset="0"/>
                <a:cs typeface="Times New Roman" panose="02020603050405020304" pitchFamily="18" charset="0"/>
              </a:rPr>
              <a:t>Future Scope </a:t>
            </a:r>
          </a:p>
          <a:p>
            <a:pPr marL="342900" indent="-342900">
              <a:buAutoNum type="arabicParenR"/>
            </a:pPr>
            <a:r>
              <a:rPr lang="en-US" sz="1600" dirty="0">
                <a:latin typeface="Times New Roman" panose="02020603050405020304" pitchFamily="18" charset="0"/>
                <a:cs typeface="Times New Roman" panose="02020603050405020304" pitchFamily="18" charset="0"/>
              </a:rPr>
              <a:t>Conclusion</a:t>
            </a:r>
          </a:p>
          <a:p>
            <a:pPr marL="342900" indent="-342900">
              <a:buAutoNum type="arabicParenR"/>
            </a:pPr>
            <a:endParaRPr lang="en-US" sz="1600" dirty="0">
              <a:latin typeface="Times New Roman" panose="02020603050405020304" pitchFamily="18" charset="0"/>
              <a:cs typeface="Times New Roman" panose="02020603050405020304" pitchFamily="18" charset="0"/>
            </a:endParaRPr>
          </a:p>
          <a:p>
            <a:pPr marL="342900" indent="-342900">
              <a:buAutoNum type="arabicParenR"/>
            </a:pPr>
            <a:endParaRPr lang="en-US" sz="1600" dirty="0">
              <a:latin typeface="Times New Roman" panose="02020603050405020304" pitchFamily="18" charset="0"/>
              <a:cs typeface="Times New Roman" panose="02020603050405020304" pitchFamily="18" charset="0"/>
            </a:endParaRPr>
          </a:p>
        </p:txBody>
      </p:sp>
      <p:pic>
        <p:nvPicPr>
          <p:cNvPr id="5" name="Image 7">
            <a:extLst>
              <a:ext uri="{FF2B5EF4-FFF2-40B4-BE49-F238E27FC236}">
                <a16:creationId xmlns:a16="http://schemas.microsoft.com/office/drawing/2014/main" id="{F8FAF020-18B9-9DFB-5228-8962CF6FA245}"/>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4000" b="1" dirty="0">
                <a:solidFill>
                  <a:srgbClr val="1E2761"/>
                </a:solidFill>
                <a:latin typeface="Times New Roman" panose="02020603050405020304" pitchFamily="18" charset="0"/>
                <a:ea typeface="Arial Black" pitchFamily="34" charset="-122"/>
                <a:cs typeface="Times New Roman" panose="02020603050405020304" pitchFamily="18" charset="0"/>
              </a:rPr>
              <a:t>Introduction</a:t>
            </a:r>
            <a:endParaRPr lang="en-US" sz="38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Text 2"/>
          <p:cNvSpPr/>
          <p:nvPr/>
        </p:nvSpPr>
        <p:spPr>
          <a:xfrm>
            <a:off x="426204" y="1222812"/>
            <a:ext cx="8229600" cy="3657600"/>
          </a:xfrm>
          <a:prstGeom prst="rect">
            <a:avLst/>
          </a:prstGeom>
          <a:noFill/>
          <a:ln/>
        </p:spPr>
        <p:txBody>
          <a:bodyPr wrap="square" rtlCol="0" anchor="t"/>
          <a:lstStyle/>
          <a:p>
            <a:pPr marL="0" indent="0" algn="l">
              <a:buNone/>
            </a:pPr>
            <a:r>
              <a:rPr lang="en-US" sz="1600" dirty="0">
                <a:latin typeface="Times New Roman" panose="02020603050405020304" pitchFamily="18" charset="0"/>
                <a:ea typeface="Arial" pitchFamily="34" charset="-122"/>
                <a:cs typeface="Times New Roman" panose="02020603050405020304" pitchFamily="18" charset="0"/>
              </a:rPr>
              <a:t>Gagan Netra is an autonomous aerial monitoring system designed to assess and visualize city-wide air quality hotspots, while simultaneously detecting pollution-causing activities and civic hazards.
</a:t>
            </a:r>
            <a:endParaRPr lang="en-US" sz="1600" dirty="0">
              <a:latin typeface="Times New Roman" panose="02020603050405020304" pitchFamily="18" charset="0"/>
              <a:cs typeface="Times New Roman" panose="02020603050405020304" pitchFamily="18" charset="0"/>
            </a:endParaRPr>
          </a:p>
          <a:p>
            <a:pPr marL="0" indent="0" algn="l">
              <a:buNone/>
            </a:pPr>
            <a:r>
              <a:rPr lang="en-US" sz="1600" dirty="0">
                <a:latin typeface="Times New Roman" panose="02020603050405020304" pitchFamily="18" charset="0"/>
                <a:ea typeface="Arial" pitchFamily="34" charset="-122"/>
                <a:cs typeface="Times New Roman" panose="02020603050405020304" pitchFamily="18" charset="0"/>
              </a:rPr>
              <a:t>Traditional fixed AQI stations are limited in spatial coverage and responsiveness. The proposed system integrates onboard gas sensors, particulate matter sensors, and computer vision algorithms to monitor AQI, identify anomalous events, and geo-tag them in real time.
</a:t>
            </a:r>
            <a:endParaRPr lang="en-US" sz="1600" dirty="0">
              <a:latin typeface="Times New Roman" panose="02020603050405020304" pitchFamily="18" charset="0"/>
              <a:cs typeface="Times New Roman" panose="02020603050405020304" pitchFamily="18" charset="0"/>
            </a:endParaRPr>
          </a:p>
          <a:p>
            <a:pPr marL="0" indent="0" algn="l">
              <a:buNone/>
            </a:pPr>
            <a:r>
              <a:rPr lang="en-US" sz="1600" dirty="0">
                <a:latin typeface="Times New Roman" panose="02020603050405020304" pitchFamily="18" charset="0"/>
                <a:ea typeface="Arial" pitchFamily="34" charset="-122"/>
                <a:cs typeface="Times New Roman" panose="02020603050405020304" pitchFamily="18" charset="0"/>
              </a:rPr>
              <a:t>The solution enhances urban sustainability by enabling faster detection, localized intervention, and hotspot analysis.</a:t>
            </a:r>
            <a:endParaRPr lang="en-US" sz="1600" dirty="0">
              <a:latin typeface="Times New Roman" panose="02020603050405020304" pitchFamily="18" charset="0"/>
              <a:cs typeface="Times New Roman" panose="02020603050405020304" pitchFamily="18" charset="0"/>
            </a:endParaRPr>
          </a:p>
        </p:txBody>
      </p:sp>
      <p:pic>
        <p:nvPicPr>
          <p:cNvPr id="6" name="Image 7">
            <a:extLst>
              <a:ext uri="{FF2B5EF4-FFF2-40B4-BE49-F238E27FC236}">
                <a16:creationId xmlns:a16="http://schemas.microsoft.com/office/drawing/2014/main" id="{6881243A-5067-A658-B05A-956DA67181B9}"/>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The Problem Statement</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Text 2"/>
          <p:cNvSpPr/>
          <p:nvPr/>
        </p:nvSpPr>
        <p:spPr>
          <a:xfrm>
            <a:off x="457200" y="1097280"/>
            <a:ext cx="8229600" cy="548640"/>
          </a:xfrm>
          <a:prstGeom prst="rect">
            <a:avLst/>
          </a:prstGeom>
          <a:noFill/>
          <a:ln/>
        </p:spPr>
        <p:txBody>
          <a:bodyPr wrap="square" rtlCol="0" anchor="ctr"/>
          <a:lstStyle/>
          <a:p>
            <a:pPr marL="0" indent="0">
              <a:buNone/>
            </a:pPr>
            <a:r>
              <a:rPr lang="en-US" sz="1400" dirty="0">
                <a:latin typeface="Times New Roman" panose="02020603050405020304" pitchFamily="18" charset="0"/>
                <a:ea typeface="Arial" pitchFamily="34" charset="-122"/>
                <a:cs typeface="Times New Roman" panose="02020603050405020304" pitchFamily="18" charset="0"/>
              </a:rPr>
              <a:t>Urban environments face increasing environmental degradation, but current monitoring systems have critical limitations:</a:t>
            </a:r>
            <a:endParaRPr lang="en-US" sz="1400" dirty="0">
              <a:latin typeface="Times New Roman" panose="02020603050405020304" pitchFamily="18" charset="0"/>
              <a:cs typeface="Times New Roman" panose="02020603050405020304" pitchFamily="18" charset="0"/>
            </a:endParaRPr>
          </a:p>
        </p:txBody>
      </p:sp>
      <p:sp>
        <p:nvSpPr>
          <p:cNvPr id="5" name="Shape 3"/>
          <p:cNvSpPr/>
          <p:nvPr/>
        </p:nvSpPr>
        <p:spPr>
          <a:xfrm>
            <a:off x="457200" y="1920240"/>
            <a:ext cx="3931920" cy="109728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Shape 4"/>
          <p:cNvSpPr/>
          <p:nvPr/>
        </p:nvSpPr>
        <p:spPr>
          <a:xfrm>
            <a:off x="457200" y="1920240"/>
            <a:ext cx="73152" cy="1097280"/>
          </a:xfrm>
          <a:prstGeom prst="rect">
            <a:avLst/>
          </a:prstGeom>
          <a:solidFill>
            <a:srgbClr val="02809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7" name="Text 5"/>
          <p:cNvSpPr/>
          <p:nvPr/>
        </p:nvSpPr>
        <p:spPr>
          <a:xfrm>
            <a:off x="640080" y="2057400"/>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Limited Coverage</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640080" y="2423160"/>
            <a:ext cx="3657600" cy="457200"/>
          </a:xfrm>
          <a:prstGeom prst="rect">
            <a:avLst/>
          </a:prstGeom>
          <a:noFill/>
          <a:ln/>
        </p:spPr>
        <p:txBody>
          <a:bodyPr wrap="square" rtlCol="0" anchor="ctr"/>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Sparse static AQI stations miss localized pollution hotspots</a:t>
            </a:r>
            <a:endParaRPr lang="en-US" sz="1200" dirty="0">
              <a:latin typeface="Times New Roman" panose="02020603050405020304" pitchFamily="18" charset="0"/>
              <a:cs typeface="Times New Roman" panose="02020603050405020304" pitchFamily="18" charset="0"/>
            </a:endParaRPr>
          </a:p>
        </p:txBody>
      </p:sp>
      <p:sp>
        <p:nvSpPr>
          <p:cNvPr id="9" name="Shape 7"/>
          <p:cNvSpPr/>
          <p:nvPr/>
        </p:nvSpPr>
        <p:spPr>
          <a:xfrm>
            <a:off x="4754880" y="1920240"/>
            <a:ext cx="3931920" cy="109728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Shape 8"/>
          <p:cNvSpPr/>
          <p:nvPr/>
        </p:nvSpPr>
        <p:spPr>
          <a:xfrm>
            <a:off x="4754880" y="1920240"/>
            <a:ext cx="73152" cy="1097280"/>
          </a:xfrm>
          <a:prstGeom prst="rect">
            <a:avLst/>
          </a:prstGeom>
          <a:solidFill>
            <a:srgbClr val="02809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1" name="Text 9"/>
          <p:cNvSpPr/>
          <p:nvPr/>
        </p:nvSpPr>
        <p:spPr>
          <a:xfrm>
            <a:off x="4937760" y="2057400"/>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Delayed Detection</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937760" y="2423160"/>
            <a:ext cx="3657600" cy="457200"/>
          </a:xfrm>
          <a:prstGeom prst="rect">
            <a:avLst/>
          </a:prstGeom>
          <a:noFill/>
          <a:ln/>
        </p:spPr>
        <p:txBody>
          <a:bodyPr wrap="square" rtlCol="0" anchor="ctr"/>
          <a:lstStyle/>
          <a:p>
            <a:pPr marL="0" indent="0">
              <a:buNone/>
            </a:pPr>
            <a:r>
              <a:rPr lang="en-US" sz="1200" dirty="0">
                <a:solidFill>
                  <a:srgbClr val="2C3E50"/>
                </a:solidFill>
                <a:latin typeface="Times New Roman" panose="02020603050405020304" pitchFamily="18" charset="0"/>
                <a:ea typeface="Arial" pitchFamily="34" charset="-122"/>
                <a:cs typeface="Times New Roman" panose="02020603050405020304" pitchFamily="18" charset="0"/>
              </a:rPr>
              <a:t>Hours/days lag in identifying pollution sources and civic </a:t>
            </a:r>
            <a:r>
              <a:rPr lang="en-US" sz="1200" dirty="0">
                <a:latin typeface="Times New Roman" panose="02020603050405020304" pitchFamily="18" charset="0"/>
                <a:ea typeface="Arial" pitchFamily="34" charset="-122"/>
                <a:cs typeface="Times New Roman" panose="02020603050405020304" pitchFamily="18" charset="0"/>
              </a:rPr>
              <a:t>hazards</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457200" y="3291840"/>
            <a:ext cx="3931920" cy="109728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Shape 12"/>
          <p:cNvSpPr/>
          <p:nvPr/>
        </p:nvSpPr>
        <p:spPr>
          <a:xfrm>
            <a:off x="457200" y="3291840"/>
            <a:ext cx="73152" cy="1097280"/>
          </a:xfrm>
          <a:prstGeom prst="rect">
            <a:avLst/>
          </a:prstGeom>
          <a:solidFill>
            <a:srgbClr val="02809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5" name="Text 13"/>
          <p:cNvSpPr/>
          <p:nvPr/>
        </p:nvSpPr>
        <p:spPr>
          <a:xfrm>
            <a:off x="640080" y="3429000"/>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No Vertical Profiling</a:t>
            </a:r>
            <a:endParaRPr lang="en-US" sz="1600" dirty="0">
              <a:latin typeface="Times New Roman" panose="02020603050405020304" pitchFamily="18" charset="0"/>
              <a:cs typeface="Times New Roman" panose="02020603050405020304" pitchFamily="18" charset="0"/>
            </a:endParaRPr>
          </a:p>
        </p:txBody>
      </p:sp>
      <p:sp>
        <p:nvSpPr>
          <p:cNvPr id="16" name="Text 14"/>
          <p:cNvSpPr/>
          <p:nvPr/>
        </p:nvSpPr>
        <p:spPr>
          <a:xfrm>
            <a:off x="640080" y="3794760"/>
            <a:ext cx="3657600" cy="457200"/>
          </a:xfrm>
          <a:prstGeom prst="rect">
            <a:avLst/>
          </a:prstGeom>
          <a:noFill/>
          <a:ln/>
        </p:spPr>
        <p:txBody>
          <a:bodyPr wrap="square" rtlCol="0" anchor="ctr"/>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Cannot measure air quality variation at different altitudes</a:t>
            </a:r>
            <a:endParaRPr lang="en-US" sz="1200" dirty="0">
              <a:latin typeface="Times New Roman" panose="02020603050405020304" pitchFamily="18" charset="0"/>
              <a:cs typeface="Times New Roman" panose="02020603050405020304" pitchFamily="18" charset="0"/>
            </a:endParaRPr>
          </a:p>
        </p:txBody>
      </p:sp>
      <p:sp>
        <p:nvSpPr>
          <p:cNvPr id="17" name="Shape 15"/>
          <p:cNvSpPr/>
          <p:nvPr/>
        </p:nvSpPr>
        <p:spPr>
          <a:xfrm>
            <a:off x="4754880" y="3291840"/>
            <a:ext cx="3931920" cy="109728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8" name="Shape 16"/>
          <p:cNvSpPr/>
          <p:nvPr/>
        </p:nvSpPr>
        <p:spPr>
          <a:xfrm>
            <a:off x="4754880" y="3291840"/>
            <a:ext cx="73152" cy="1097280"/>
          </a:xfrm>
          <a:prstGeom prst="rect">
            <a:avLst/>
          </a:prstGeom>
          <a:solidFill>
            <a:srgbClr val="028090"/>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9" name="Text 17"/>
          <p:cNvSpPr/>
          <p:nvPr/>
        </p:nvSpPr>
        <p:spPr>
          <a:xfrm>
            <a:off x="4937760" y="3429000"/>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Reactive Response</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4937760" y="3794760"/>
            <a:ext cx="3657600" cy="457200"/>
          </a:xfrm>
          <a:prstGeom prst="rect">
            <a:avLst/>
          </a:prstGeom>
          <a:noFill/>
          <a:ln/>
        </p:spPr>
        <p:txBody>
          <a:bodyPr wrap="square" rtlCol="0" anchor="ctr"/>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Lack of real-time data prevents proactive intervention</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581184" y="4572000"/>
            <a:ext cx="7958380" cy="365760"/>
          </a:xfrm>
          <a:prstGeom prst="rect">
            <a:avLst/>
          </a:prstGeom>
          <a:noFill/>
          <a:ln/>
        </p:spPr>
        <p:txBody>
          <a:bodyPr wrap="square" rtlCol="0" anchor="ctr"/>
          <a:lstStyle/>
          <a:p>
            <a:pPr marL="0" indent="0" algn="ctr">
              <a:buNone/>
            </a:pPr>
            <a:r>
              <a:rPr lang="en-US" sz="1300" b="1" i="1" dirty="0">
                <a:solidFill>
                  <a:srgbClr val="028090"/>
                </a:solidFill>
                <a:latin typeface="Times New Roman" panose="02020603050405020304" pitchFamily="18" charset="0"/>
                <a:ea typeface="Arial" pitchFamily="34" charset="-122"/>
                <a:cs typeface="Times New Roman" panose="02020603050405020304" pitchFamily="18" charset="0"/>
              </a:rPr>
              <a:t>There is a need for a dynamic, mobile, real-time, scalable sensing platform for urban monitoring.</a:t>
            </a:r>
            <a:endParaRPr lang="en-US" sz="1300" i="1" dirty="0">
              <a:latin typeface="Times New Roman" panose="02020603050405020304" pitchFamily="18" charset="0"/>
              <a:cs typeface="Times New Roman" panose="02020603050405020304" pitchFamily="18" charset="0"/>
            </a:endParaRPr>
          </a:p>
        </p:txBody>
      </p:sp>
      <p:pic>
        <p:nvPicPr>
          <p:cNvPr id="22" name="Image 7">
            <a:extLst>
              <a:ext uri="{FF2B5EF4-FFF2-40B4-BE49-F238E27FC236}">
                <a16:creationId xmlns:a16="http://schemas.microsoft.com/office/drawing/2014/main" id="{EAD735E7-0429-E4AE-579E-FCFDCB9AC1F4}"/>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Motivation &amp; Context</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097280"/>
            <a:ext cx="2560320" cy="914400"/>
          </a:xfrm>
          <a:prstGeom prst="rect">
            <a:avLst/>
          </a:prstGeom>
          <a:solidFill>
            <a:srgbClr val="028090"/>
          </a:solidFill>
          <a:ln/>
        </p:spPr>
        <p:txBody>
          <a:bodyPr/>
          <a:lstStyle/>
          <a:p>
            <a:endParaRPr lang="en-IN"/>
          </a:p>
        </p:txBody>
      </p:sp>
      <p:sp>
        <p:nvSpPr>
          <p:cNvPr id="5" name="Text 3"/>
          <p:cNvSpPr/>
          <p:nvPr/>
        </p:nvSpPr>
        <p:spPr>
          <a:xfrm>
            <a:off x="457200" y="1234440"/>
            <a:ext cx="2560320" cy="365760"/>
          </a:xfrm>
          <a:prstGeom prst="rect">
            <a:avLst/>
          </a:prstGeom>
          <a:noFill/>
          <a:ln/>
        </p:spPr>
        <p:txBody>
          <a:bodyPr wrap="square"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7M+</a:t>
            </a:r>
            <a:endParaRPr lang="en-US" sz="3200" dirty="0"/>
          </a:p>
        </p:txBody>
      </p:sp>
      <p:sp>
        <p:nvSpPr>
          <p:cNvPr id="6" name="Text 4"/>
          <p:cNvSpPr/>
          <p:nvPr/>
        </p:nvSpPr>
        <p:spPr>
          <a:xfrm>
            <a:off x="457200" y="1600200"/>
            <a:ext cx="2560320" cy="32004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Deaths annually from</a:t>
            </a:r>
            <a:endParaRPr lang="en-US" sz="1100" dirty="0"/>
          </a:p>
          <a:p>
            <a:pPr marL="0" indent="0" algn="ctr">
              <a:buNone/>
            </a:pPr>
            <a:r>
              <a:rPr lang="en-US" sz="1100" dirty="0">
                <a:solidFill>
                  <a:srgbClr val="FFFFFF"/>
                </a:solidFill>
                <a:latin typeface="Arial" pitchFamily="34" charset="0"/>
                <a:ea typeface="Arial" pitchFamily="34" charset="-122"/>
                <a:cs typeface="Arial" pitchFamily="34" charset="-120"/>
              </a:rPr>
              <a:t>air pollution (WHO)</a:t>
            </a:r>
            <a:endParaRPr lang="en-US" sz="1100" dirty="0"/>
          </a:p>
        </p:txBody>
      </p:sp>
      <p:sp>
        <p:nvSpPr>
          <p:cNvPr id="7" name="Shape 5"/>
          <p:cNvSpPr/>
          <p:nvPr/>
        </p:nvSpPr>
        <p:spPr>
          <a:xfrm>
            <a:off x="3291840" y="1097280"/>
            <a:ext cx="2560320" cy="914400"/>
          </a:xfrm>
          <a:prstGeom prst="rect">
            <a:avLst/>
          </a:prstGeom>
          <a:solidFill>
            <a:srgbClr val="00A896"/>
          </a:solidFill>
          <a:ln/>
        </p:spPr>
        <p:txBody>
          <a:bodyPr/>
          <a:lstStyle/>
          <a:p>
            <a:endParaRPr lang="en-IN"/>
          </a:p>
        </p:txBody>
      </p:sp>
      <p:sp>
        <p:nvSpPr>
          <p:cNvPr id="8" name="Text 6"/>
          <p:cNvSpPr/>
          <p:nvPr/>
        </p:nvSpPr>
        <p:spPr>
          <a:xfrm>
            <a:off x="3291840" y="1234440"/>
            <a:ext cx="2560320" cy="365760"/>
          </a:xfrm>
          <a:prstGeom prst="rect">
            <a:avLst/>
          </a:prstGeom>
          <a:noFill/>
          <a:ln/>
        </p:spPr>
        <p:txBody>
          <a:bodyPr wrap="square"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91%</a:t>
            </a:r>
            <a:endParaRPr lang="en-US" sz="3200" dirty="0"/>
          </a:p>
        </p:txBody>
      </p:sp>
      <p:sp>
        <p:nvSpPr>
          <p:cNvPr id="9" name="Text 7"/>
          <p:cNvSpPr/>
          <p:nvPr/>
        </p:nvSpPr>
        <p:spPr>
          <a:xfrm>
            <a:off x="3291840" y="1600200"/>
            <a:ext cx="2560320" cy="320040"/>
          </a:xfrm>
          <a:prstGeom prst="rect">
            <a:avLst/>
          </a:prstGeom>
          <a:noFill/>
          <a:ln/>
        </p:spPr>
        <p:txBody>
          <a:bodyPr wrap="square" rtlCol="0" anchor="ctr"/>
          <a:lstStyle/>
          <a:p>
            <a:pPr marL="0" indent="0" algn="ctr">
              <a:buNone/>
            </a:pPr>
            <a:r>
              <a:rPr lang="en-US" sz="1100" dirty="0">
                <a:solidFill>
                  <a:srgbClr val="FFFFFF"/>
                </a:solidFill>
                <a:latin typeface="Arial" pitchFamily="34" charset="0"/>
                <a:ea typeface="Arial" pitchFamily="34" charset="-122"/>
                <a:cs typeface="Arial" pitchFamily="34" charset="-120"/>
              </a:rPr>
              <a:t>World population exposed</a:t>
            </a:r>
            <a:endParaRPr lang="en-US" sz="1100" dirty="0"/>
          </a:p>
          <a:p>
            <a:pPr marL="0" indent="0" algn="ctr">
              <a:buNone/>
            </a:pPr>
            <a:r>
              <a:rPr lang="en-US" sz="1100" dirty="0">
                <a:solidFill>
                  <a:srgbClr val="FFFFFF"/>
                </a:solidFill>
                <a:latin typeface="Arial" pitchFamily="34" charset="0"/>
                <a:ea typeface="Arial" pitchFamily="34" charset="-122"/>
                <a:cs typeface="Arial" pitchFamily="34" charset="-120"/>
              </a:rPr>
              <a:t>to poor air quality</a:t>
            </a:r>
            <a:endParaRPr lang="en-US" sz="1100" dirty="0"/>
          </a:p>
        </p:txBody>
      </p:sp>
      <p:sp>
        <p:nvSpPr>
          <p:cNvPr id="10" name="Shape 8"/>
          <p:cNvSpPr/>
          <p:nvPr/>
        </p:nvSpPr>
        <p:spPr>
          <a:xfrm>
            <a:off x="6126480" y="1097280"/>
            <a:ext cx="2560320" cy="914400"/>
          </a:xfrm>
          <a:prstGeom prst="rect">
            <a:avLst/>
          </a:prstGeom>
          <a:solidFill>
            <a:srgbClr val="02C39A"/>
          </a:solidFill>
          <a:ln/>
        </p:spPr>
        <p:txBody>
          <a:bodyPr/>
          <a:lstStyle/>
          <a:p>
            <a:endParaRPr lang="en-IN"/>
          </a:p>
        </p:txBody>
      </p:sp>
      <p:sp>
        <p:nvSpPr>
          <p:cNvPr id="11" name="Text 9"/>
          <p:cNvSpPr/>
          <p:nvPr/>
        </p:nvSpPr>
        <p:spPr>
          <a:xfrm>
            <a:off x="6126480" y="1234440"/>
            <a:ext cx="2560320" cy="365760"/>
          </a:xfrm>
          <a:prstGeom prst="rect">
            <a:avLst/>
          </a:prstGeom>
          <a:noFill/>
          <a:ln/>
        </p:spPr>
        <p:txBody>
          <a:bodyPr wrap="square" rtlCol="0" anchor="ctr"/>
          <a:lstStyle/>
          <a:p>
            <a:pPr marL="0" indent="0" algn="ctr">
              <a:buNone/>
            </a:pPr>
            <a:r>
              <a:rPr lang="en-US" sz="3200" b="1" dirty="0">
                <a:solidFill>
                  <a:srgbClr val="1E2761"/>
                </a:solidFill>
                <a:latin typeface="Arial Black" pitchFamily="34" charset="0"/>
                <a:ea typeface="Arial Black" pitchFamily="34" charset="-122"/>
                <a:cs typeface="Arial Black" pitchFamily="34" charset="-120"/>
              </a:rPr>
              <a:t>$8.1T</a:t>
            </a:r>
            <a:endParaRPr lang="en-US" sz="3200" dirty="0"/>
          </a:p>
        </p:txBody>
      </p:sp>
      <p:sp>
        <p:nvSpPr>
          <p:cNvPr id="12" name="Text 10"/>
          <p:cNvSpPr/>
          <p:nvPr/>
        </p:nvSpPr>
        <p:spPr>
          <a:xfrm>
            <a:off x="6126480" y="1600200"/>
            <a:ext cx="2560320" cy="320040"/>
          </a:xfrm>
          <a:prstGeom prst="rect">
            <a:avLst/>
          </a:prstGeom>
          <a:noFill/>
          <a:ln/>
        </p:spPr>
        <p:txBody>
          <a:bodyPr wrap="square" rtlCol="0" anchor="ctr"/>
          <a:lstStyle/>
          <a:p>
            <a:pPr marL="0" indent="0" algn="ctr">
              <a:buNone/>
            </a:pPr>
            <a:r>
              <a:rPr lang="en-US" sz="1100" dirty="0">
                <a:solidFill>
                  <a:srgbClr val="1E2761"/>
                </a:solidFill>
                <a:latin typeface="Arial" pitchFamily="34" charset="0"/>
                <a:ea typeface="Arial" pitchFamily="34" charset="-122"/>
                <a:cs typeface="Arial" pitchFamily="34" charset="-120"/>
              </a:rPr>
              <a:t>Annual economic cost</a:t>
            </a:r>
            <a:endParaRPr lang="en-US" sz="1100" dirty="0"/>
          </a:p>
          <a:p>
            <a:pPr marL="0" indent="0" algn="ctr">
              <a:buNone/>
            </a:pPr>
            <a:r>
              <a:rPr lang="en-US" sz="1100" dirty="0">
                <a:solidFill>
                  <a:srgbClr val="1E2761"/>
                </a:solidFill>
                <a:latin typeface="Arial" pitchFamily="34" charset="0"/>
                <a:ea typeface="Arial" pitchFamily="34" charset="-122"/>
                <a:cs typeface="Arial" pitchFamily="34" charset="-120"/>
              </a:rPr>
              <a:t>of air pollution</a:t>
            </a:r>
            <a:endParaRPr lang="en-US" sz="1100" dirty="0"/>
          </a:p>
        </p:txBody>
      </p:sp>
      <p:sp>
        <p:nvSpPr>
          <p:cNvPr id="13" name="Text 11"/>
          <p:cNvSpPr/>
          <p:nvPr/>
        </p:nvSpPr>
        <p:spPr>
          <a:xfrm>
            <a:off x="457200" y="2286000"/>
            <a:ext cx="8229600" cy="365760"/>
          </a:xfrm>
          <a:prstGeom prst="rect">
            <a:avLst/>
          </a:prstGeom>
          <a:noFill/>
          <a:ln/>
        </p:spPr>
        <p:txBody>
          <a:bodyPr wrap="square" rtlCol="0" anchor="ctr"/>
          <a:lstStyle/>
          <a:p>
            <a:pPr marL="0" indent="0">
              <a:buNone/>
            </a:pPr>
            <a:r>
              <a:rPr lang="en-US" b="1" dirty="0">
                <a:solidFill>
                  <a:srgbClr val="1E2761"/>
                </a:solidFill>
                <a:latin typeface="Times New Roman" panose="02020603050405020304" pitchFamily="18" charset="0"/>
                <a:ea typeface="Arial" pitchFamily="34" charset="-122"/>
                <a:cs typeface="Times New Roman" panose="02020603050405020304" pitchFamily="18" charset="0"/>
              </a:rPr>
              <a:t>Current Challenges in Indian Cities</a:t>
            </a:r>
            <a:endParaRPr lang="en-US" b="1" dirty="0">
              <a:latin typeface="Times New Roman" panose="02020603050405020304" pitchFamily="18" charset="0"/>
              <a:cs typeface="Times New Roman" panose="02020603050405020304" pitchFamily="18" charset="0"/>
            </a:endParaRPr>
          </a:p>
        </p:txBody>
      </p:sp>
      <p:sp>
        <p:nvSpPr>
          <p:cNvPr id="14" name="Text 12"/>
          <p:cNvSpPr/>
          <p:nvPr/>
        </p:nvSpPr>
        <p:spPr>
          <a:xfrm>
            <a:off x="457200" y="2743200"/>
            <a:ext cx="8229600" cy="1645920"/>
          </a:xfrm>
          <a:prstGeom prst="rect">
            <a:avLst/>
          </a:prstGeom>
          <a:noFill/>
          <a:ln/>
        </p:spPr>
        <p:txBody>
          <a:bodyPr wrap="square" rtlCol="0" anchor="ctr"/>
          <a:lstStyle/>
          <a:p>
            <a:pPr marL="342900" indent="-342900">
              <a:buSzPct val="100000"/>
              <a:buChar char="•"/>
            </a:pPr>
            <a:r>
              <a:rPr lang="en-US" sz="1600" dirty="0">
                <a:latin typeface="Times New Roman" panose="02020603050405020304" pitchFamily="18" charset="0"/>
                <a:ea typeface="Arial" pitchFamily="34" charset="-122"/>
                <a:cs typeface="Times New Roman" panose="02020603050405020304" pitchFamily="18" charset="0"/>
              </a:rPr>
              <a:t>Rapid urbanization increasing pollution sources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latin typeface="Times New Roman" panose="02020603050405020304" pitchFamily="18" charset="0"/>
                <a:ea typeface="Arial" pitchFamily="34" charset="-122"/>
                <a:cs typeface="Times New Roman" panose="02020603050405020304" pitchFamily="18" charset="0"/>
              </a:rPr>
              <a:t>Limited AQI monitoring infrastructure (1 station per 500,000+ people)</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latin typeface="Times New Roman" panose="02020603050405020304" pitchFamily="18" charset="0"/>
                <a:ea typeface="Arial" pitchFamily="34" charset="-122"/>
                <a:cs typeface="Times New Roman" panose="02020603050405020304" pitchFamily="18" charset="0"/>
              </a:rPr>
              <a:t>Delayed response to pollution events and civic hazards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latin typeface="Times New Roman" panose="02020603050405020304" pitchFamily="18" charset="0"/>
                <a:ea typeface="Arial" pitchFamily="34" charset="-122"/>
                <a:cs typeface="Times New Roman" panose="02020603050405020304" pitchFamily="18" charset="0"/>
              </a:rPr>
              <a:t>Lack of real-time, localized air quality data</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latin typeface="Times New Roman" panose="02020603050405020304" pitchFamily="18" charset="0"/>
                <a:ea typeface="Arial" pitchFamily="34" charset="-122"/>
                <a:cs typeface="Times New Roman" panose="02020603050405020304" pitchFamily="18" charset="0"/>
              </a:rPr>
              <a:t>Poor enforcement due to insufficient evidence</a:t>
            </a:r>
            <a:endParaRPr lang="en-US" sz="1600" dirty="0">
              <a:latin typeface="Times New Roman" panose="02020603050405020304" pitchFamily="18" charset="0"/>
              <a:cs typeface="Times New Roman" panose="02020603050405020304" pitchFamily="18" charset="0"/>
            </a:endParaRPr>
          </a:p>
        </p:txBody>
      </p:sp>
      <p:pic>
        <p:nvPicPr>
          <p:cNvPr id="16" name="Image 7">
            <a:extLst>
              <a:ext uri="{FF2B5EF4-FFF2-40B4-BE49-F238E27FC236}">
                <a16:creationId xmlns:a16="http://schemas.microsoft.com/office/drawing/2014/main" id="{39BD5682-ECAD-5C87-16D2-7EF3649920C6}"/>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Aim &amp; Objectives</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49451" y="1051560"/>
            <a:ext cx="8229600" cy="731520"/>
          </a:xfrm>
          <a:prstGeom prst="rect">
            <a:avLst/>
          </a:prstGeom>
          <a:solidFill>
            <a:srgbClr val="028090"/>
          </a:solidFill>
          <a:ln/>
        </p:spPr>
        <p:txBody>
          <a:bodyPr/>
          <a:lstStyle/>
          <a:p>
            <a:endParaRPr lang="en-IN"/>
          </a:p>
        </p:txBody>
      </p:sp>
      <p:sp>
        <p:nvSpPr>
          <p:cNvPr id="5" name="Text 3"/>
          <p:cNvSpPr/>
          <p:nvPr/>
        </p:nvSpPr>
        <p:spPr>
          <a:xfrm>
            <a:off x="508347" y="995769"/>
            <a:ext cx="914400" cy="274320"/>
          </a:xfrm>
          <a:prstGeom prst="rect">
            <a:avLst/>
          </a:prstGeom>
          <a:noFill/>
          <a:ln/>
        </p:spPr>
        <p:txBody>
          <a:bodyPr wrap="square" rtlCol="0" anchor="ctr"/>
          <a:lstStyle/>
          <a:p>
            <a:pPr marL="0" indent="0">
              <a:buNone/>
            </a:pPr>
            <a:r>
              <a:rPr lang="en-US" sz="1400" b="1" dirty="0">
                <a:solidFill>
                  <a:srgbClr val="FFFFFF"/>
                </a:solidFill>
                <a:latin typeface="Times New Roman" panose="02020603050405020304" pitchFamily="18" charset="0"/>
                <a:ea typeface="Arial" pitchFamily="34" charset="-122"/>
                <a:cs typeface="Times New Roman" panose="02020603050405020304" pitchFamily="18" charset="0"/>
              </a:rPr>
              <a:t>AIM</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508347" y="1262340"/>
            <a:ext cx="7589520" cy="457200"/>
          </a:xfrm>
          <a:prstGeom prst="rect">
            <a:avLst/>
          </a:prstGeom>
          <a:noFill/>
          <a:ln/>
        </p:spPr>
        <p:txBody>
          <a:bodyPr wrap="square" rtlCol="0" anchor="ctr"/>
          <a:lstStyle/>
          <a:p>
            <a:pPr marL="0" indent="0">
              <a:buNone/>
            </a:pPr>
            <a:r>
              <a:rPr lang="en-US" sz="1300" dirty="0">
                <a:solidFill>
                  <a:srgbClr val="FFFFFF"/>
                </a:solidFill>
                <a:latin typeface="Times New Roman" panose="02020603050405020304" pitchFamily="18" charset="0"/>
                <a:ea typeface="Arial" pitchFamily="34" charset="-122"/>
                <a:cs typeface="Times New Roman" panose="02020603050405020304" pitchFamily="18" charset="0"/>
              </a:rPr>
              <a:t>To develop an autonomous drone-based system that maps city-wide air-quality hotspots and automatically detects pollution-causing activities and civic hazards, delivering geo-tagged, real-time intelligence to authorities.</a:t>
            </a:r>
            <a:endParaRPr lang="en-US" sz="1300" dirty="0">
              <a:latin typeface="Times New Roman" panose="02020603050405020304" pitchFamily="18" charset="0"/>
              <a:cs typeface="Times New Roman" panose="02020603050405020304" pitchFamily="18" charset="0"/>
            </a:endParaRPr>
          </a:p>
        </p:txBody>
      </p:sp>
      <p:sp>
        <p:nvSpPr>
          <p:cNvPr id="7" name="Text 5"/>
          <p:cNvSpPr/>
          <p:nvPr/>
        </p:nvSpPr>
        <p:spPr>
          <a:xfrm>
            <a:off x="457200" y="2011680"/>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Primary Objectives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57199" y="2633129"/>
            <a:ext cx="4297681" cy="1371600"/>
          </a:xfrm>
          <a:prstGeom prst="rect">
            <a:avLst/>
          </a:prstGeom>
          <a:noFill/>
          <a:ln/>
        </p:spPr>
        <p:txBody>
          <a:bodyPr wrap="square" rtlCol="0" anchor="ctr"/>
          <a:lstStyle/>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Map city-wide AQI hotspots dynamically</a:t>
            </a:r>
            <a:endParaRPr lang="en-US" sz="1400" dirty="0">
              <a:latin typeface="Times New Roman" panose="02020603050405020304" pitchFamily="18" charset="0"/>
              <a:cs typeface="Times New Roman" panose="02020603050405020304" pitchFamily="18" charset="0"/>
            </a:endParaRPr>
          </a:p>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Detect pollution-causing activities (waste burning, emissions)</a:t>
            </a:r>
            <a:endParaRPr lang="en-US" sz="1400" dirty="0">
              <a:latin typeface="Times New Roman" panose="02020603050405020304" pitchFamily="18" charset="0"/>
              <a:cs typeface="Times New Roman" panose="02020603050405020304" pitchFamily="18" charset="0"/>
            </a:endParaRPr>
          </a:p>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Identify civic hazards (potholes, garbage, blocked drains)</a:t>
            </a:r>
            <a:endParaRPr lang="en-US" sz="1400" dirty="0">
              <a:latin typeface="Times New Roman" panose="02020603050405020304" pitchFamily="18" charset="0"/>
              <a:cs typeface="Times New Roman" panose="02020603050405020304" pitchFamily="18" charset="0"/>
            </a:endParaRPr>
          </a:p>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Geo-tag events and push real-time alerts to dashboard</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4754880" y="2003931"/>
            <a:ext cx="365760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Secondary Objectives</a:t>
            </a:r>
            <a:endParaRPr lang="en-US" sz="1600" dirty="0">
              <a:latin typeface="Times New Roman" panose="02020603050405020304" pitchFamily="18" charset="0"/>
              <a:cs typeface="Times New Roman" panose="02020603050405020304" pitchFamily="18" charset="0"/>
            </a:endParaRPr>
          </a:p>
        </p:txBody>
      </p:sp>
      <p:sp>
        <p:nvSpPr>
          <p:cNvPr id="10" name="Text 8"/>
          <p:cNvSpPr/>
          <p:nvPr/>
        </p:nvSpPr>
        <p:spPr>
          <a:xfrm>
            <a:off x="4754880" y="2415411"/>
            <a:ext cx="4206240" cy="1371600"/>
          </a:xfrm>
          <a:prstGeom prst="rect">
            <a:avLst/>
          </a:prstGeom>
          <a:noFill/>
          <a:ln/>
        </p:spPr>
        <p:txBody>
          <a:bodyPr wrap="square" rtlCol="0" anchor="ctr"/>
          <a:lstStyle/>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Build AI models (RGB + thermal) for anomaly detection</a:t>
            </a:r>
            <a:endParaRPr lang="en-US" sz="1400" dirty="0">
              <a:latin typeface="Times New Roman" panose="02020603050405020304" pitchFamily="18" charset="0"/>
              <a:cs typeface="Times New Roman" panose="02020603050405020304" pitchFamily="18" charset="0"/>
            </a:endParaRPr>
          </a:p>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Generate pollution heatmaps and </a:t>
            </a:r>
            <a:r>
              <a:rPr lang="en-US" sz="1400">
                <a:latin typeface="Times New Roman" panose="02020603050405020304" pitchFamily="18" charset="0"/>
                <a:ea typeface="Arial" pitchFamily="34" charset="-122"/>
                <a:cs typeface="Times New Roman" panose="02020603050405020304" pitchFamily="18" charset="0"/>
              </a:rPr>
              <a:t>trend analysis</a:t>
            </a:r>
            <a:endParaRPr lang="en-US" sz="1400" dirty="0">
              <a:latin typeface="Times New Roman" panose="02020603050405020304" pitchFamily="18" charset="0"/>
              <a:cs typeface="Times New Roman" panose="02020603050405020304" pitchFamily="18" charset="0"/>
            </a:endParaRPr>
          </a:p>
          <a:p>
            <a:pPr marL="342900" indent="-342900">
              <a:buSzPct val="100000"/>
              <a:buChar char="•"/>
            </a:pPr>
            <a:r>
              <a:rPr lang="en-US" sz="1400" dirty="0">
                <a:latin typeface="Times New Roman" panose="02020603050405020304" pitchFamily="18" charset="0"/>
                <a:ea typeface="Arial" pitchFamily="34" charset="-122"/>
                <a:cs typeface="Times New Roman" panose="02020603050405020304" pitchFamily="18" charset="0"/>
              </a:rPr>
              <a:t>Integrate with municipal GIS and civic workflows via APIs</a:t>
            </a:r>
            <a:endParaRPr lang="en-US" sz="1400" dirty="0">
              <a:latin typeface="Times New Roman" panose="02020603050405020304" pitchFamily="18" charset="0"/>
              <a:cs typeface="Times New Roman" panose="02020603050405020304" pitchFamily="18" charset="0"/>
            </a:endParaRPr>
          </a:p>
        </p:txBody>
      </p:sp>
      <p:pic>
        <p:nvPicPr>
          <p:cNvPr id="11" name="Image 7">
            <a:extLst>
              <a:ext uri="{FF2B5EF4-FFF2-40B4-BE49-F238E27FC236}">
                <a16:creationId xmlns:a16="http://schemas.microsoft.com/office/drawing/2014/main" id="{27BB5154-81B4-986C-B53B-40153C7FC321}"/>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System Overview</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Text 2"/>
          <p:cNvSpPr/>
          <p:nvPr/>
        </p:nvSpPr>
        <p:spPr>
          <a:xfrm>
            <a:off x="457200" y="1097280"/>
            <a:ext cx="3931920" cy="36576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Key Characteristics</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457200" y="1344512"/>
            <a:ext cx="3931920" cy="2743200"/>
          </a:xfrm>
          <a:prstGeom prst="rect">
            <a:avLst/>
          </a:prstGeom>
          <a:noFill/>
          <a:ln/>
        </p:spPr>
        <p:txBody>
          <a:bodyPr wrap="square" rtlCol="0" anchor="ctr"/>
          <a:lstStyle/>
          <a:p>
            <a:pPr marL="0" indent="0">
              <a:lnSpc>
                <a:spcPts val="1600"/>
              </a:lnSpc>
              <a:buNone/>
            </a:pPr>
            <a:r>
              <a:rPr lang="en-US" sz="1400" b="1" dirty="0">
                <a:latin typeface="Times New Roman" panose="02020603050405020304" pitchFamily="18" charset="0"/>
                <a:ea typeface="Arial" pitchFamily="34" charset="-122"/>
                <a:cs typeface="Times New Roman" panose="02020603050405020304" pitchFamily="18" charset="0"/>
              </a:rPr>
              <a:t>Mobile Sensing: </a:t>
            </a:r>
            <a:r>
              <a:rPr lang="en-US" sz="1400" dirty="0">
                <a:latin typeface="Times New Roman" panose="02020603050405020304" pitchFamily="18" charset="0"/>
                <a:ea typeface="Arial" pitchFamily="34" charset="-122"/>
                <a:cs typeface="Times New Roman" panose="02020603050405020304" pitchFamily="18" charset="0"/>
              </a:rPr>
              <a:t>High spatial and vertical resolution compared with static stations
</a:t>
            </a:r>
            <a:endParaRPr lang="en-US" sz="1400" dirty="0">
              <a:latin typeface="Times New Roman" panose="02020603050405020304" pitchFamily="18" charset="0"/>
              <a:cs typeface="Times New Roman" panose="02020603050405020304" pitchFamily="18" charset="0"/>
            </a:endParaRPr>
          </a:p>
          <a:p>
            <a:pPr marL="0" indent="0">
              <a:lnSpc>
                <a:spcPts val="1600"/>
              </a:lnSpc>
              <a:buNone/>
            </a:pPr>
            <a:r>
              <a:rPr lang="en-US" sz="1400" b="1" dirty="0">
                <a:latin typeface="Times New Roman" panose="02020603050405020304" pitchFamily="18" charset="0"/>
                <a:ea typeface="Arial" pitchFamily="34" charset="-122"/>
                <a:cs typeface="Times New Roman" panose="02020603050405020304" pitchFamily="18" charset="0"/>
              </a:rPr>
              <a:t>Edge Intelligence: </a:t>
            </a:r>
            <a:r>
              <a:rPr lang="en-US" sz="1400" dirty="0">
                <a:latin typeface="Times New Roman" panose="02020603050405020304" pitchFamily="18" charset="0"/>
                <a:ea typeface="Arial" pitchFamily="34" charset="-122"/>
                <a:cs typeface="Times New Roman" panose="02020603050405020304" pitchFamily="18" charset="0"/>
              </a:rPr>
              <a:t>Onboard models reduce bandwidth by sending events and summarized telemetry
</a:t>
            </a:r>
            <a:endParaRPr lang="en-US" sz="1400" dirty="0">
              <a:latin typeface="Times New Roman" panose="02020603050405020304" pitchFamily="18" charset="0"/>
              <a:cs typeface="Times New Roman" panose="02020603050405020304" pitchFamily="18" charset="0"/>
            </a:endParaRPr>
          </a:p>
          <a:p>
            <a:pPr marL="0" indent="0">
              <a:lnSpc>
                <a:spcPts val="1600"/>
              </a:lnSpc>
              <a:buNone/>
            </a:pPr>
            <a:r>
              <a:rPr lang="en-US" sz="1400" b="1" dirty="0">
                <a:latin typeface="Times New Roman" panose="02020603050405020304" pitchFamily="18" charset="0"/>
                <a:ea typeface="Arial" pitchFamily="34" charset="-122"/>
                <a:cs typeface="Times New Roman" panose="02020603050405020304" pitchFamily="18" charset="0"/>
              </a:rPr>
              <a:t>Spatio-Temporal Fusion: </a:t>
            </a:r>
            <a:r>
              <a:rPr lang="en-US" sz="1400" dirty="0">
                <a:latin typeface="Times New Roman" panose="02020603050405020304" pitchFamily="18" charset="0"/>
                <a:ea typeface="Arial" pitchFamily="34" charset="-122"/>
                <a:cs typeface="Times New Roman" panose="02020603050405020304" pitchFamily="18" charset="0"/>
              </a:rPr>
              <a:t>Sensor readings and vision detections fused by timestamp and location
</a:t>
            </a:r>
            <a:endParaRPr lang="en-US" sz="1400" dirty="0">
              <a:latin typeface="Times New Roman" panose="02020603050405020304" pitchFamily="18" charset="0"/>
              <a:cs typeface="Times New Roman" panose="02020603050405020304" pitchFamily="18" charset="0"/>
            </a:endParaRPr>
          </a:p>
          <a:p>
            <a:pPr marL="0" indent="0">
              <a:lnSpc>
                <a:spcPts val="1600"/>
              </a:lnSpc>
              <a:buNone/>
            </a:pPr>
            <a:r>
              <a:rPr lang="en-US" sz="1400" b="1" dirty="0">
                <a:latin typeface="Times New Roman" panose="02020603050405020304" pitchFamily="18" charset="0"/>
                <a:ea typeface="Arial" pitchFamily="34" charset="-122"/>
                <a:cs typeface="Times New Roman" panose="02020603050405020304" pitchFamily="18" charset="0"/>
              </a:rPr>
              <a:t>Actionable Outputs: </a:t>
            </a:r>
            <a:r>
              <a:rPr lang="en-US" sz="1400" dirty="0">
                <a:latin typeface="Times New Roman" panose="02020603050405020304" pitchFamily="18" charset="0"/>
                <a:ea typeface="Arial" pitchFamily="34" charset="-122"/>
                <a:cs typeface="Times New Roman" panose="02020603050405020304" pitchFamily="18" charset="0"/>
              </a:rPr>
              <a:t>Heatmaps, ranked hotspots, incident alerts, and downloadable reports</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4754880" y="1081782"/>
            <a:ext cx="3931920" cy="36576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Operational Flow</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827698" y="155866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Autonomous aerial survey</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4827698" y="183298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Sensor data collection (PM, gases)</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4827698" y="210730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RGB + thermal image capture</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4827698" y="238162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Onboard AI processing</a:t>
            </a:r>
            <a:endParaRPr lang="en-US" sz="1400" dirty="0">
              <a:latin typeface="Times New Roman" panose="02020603050405020304" pitchFamily="18" charset="0"/>
              <a:cs typeface="Times New Roman" panose="02020603050405020304" pitchFamily="18" charset="0"/>
            </a:endParaRPr>
          </a:p>
        </p:txBody>
      </p:sp>
      <p:sp>
        <p:nvSpPr>
          <p:cNvPr id="16" name="Text 14"/>
          <p:cNvSpPr/>
          <p:nvPr/>
        </p:nvSpPr>
        <p:spPr>
          <a:xfrm>
            <a:off x="4827698" y="265594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Event detection &amp; classification</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4827698" y="293026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GPS/RTK geo-tagging</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4827698" y="320458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LTE/4G cloud transmission</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4827698" y="347890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Backend data fusion &amp; analysis</a:t>
            </a:r>
            <a:endParaRPr lang="en-US" sz="1400" dirty="0">
              <a:latin typeface="Times New Roman" panose="02020603050405020304" pitchFamily="18" charset="0"/>
              <a:cs typeface="Times New Roman" panose="02020603050405020304" pitchFamily="18" charset="0"/>
            </a:endParaRPr>
          </a:p>
        </p:txBody>
      </p:sp>
      <p:sp>
        <p:nvSpPr>
          <p:cNvPr id="24" name="Text 22"/>
          <p:cNvSpPr/>
          <p:nvPr/>
        </p:nvSpPr>
        <p:spPr>
          <a:xfrm>
            <a:off x="4827698" y="375322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Dashboard visualization</a:t>
            </a:r>
            <a:endParaRPr lang="en-US" sz="1400" dirty="0">
              <a:latin typeface="Times New Roman" panose="02020603050405020304" pitchFamily="18" charset="0"/>
              <a:cs typeface="Times New Roman" panose="02020603050405020304" pitchFamily="18" charset="0"/>
            </a:endParaRPr>
          </a:p>
        </p:txBody>
      </p:sp>
      <p:sp>
        <p:nvSpPr>
          <p:cNvPr id="26" name="Text 24"/>
          <p:cNvSpPr/>
          <p:nvPr/>
        </p:nvSpPr>
        <p:spPr>
          <a:xfrm>
            <a:off x="4827698" y="4027545"/>
            <a:ext cx="3383280" cy="228600"/>
          </a:xfrm>
          <a:prstGeom prst="rect">
            <a:avLst/>
          </a:prstGeom>
          <a:noFill/>
          <a:ln/>
        </p:spPr>
        <p:txBody>
          <a:bodyPr wrap="square" rtlCol="0" anchor="ctr"/>
          <a:lstStyle/>
          <a:p>
            <a:pPr marL="171450" indent="-171450">
              <a:buFont typeface="Arial" panose="020B0604020202020204" pitchFamily="34" charset="0"/>
              <a:buChar char="•"/>
            </a:pPr>
            <a:r>
              <a:rPr lang="en-US" sz="1400" dirty="0">
                <a:latin typeface="Times New Roman" panose="02020603050405020304" pitchFamily="18" charset="0"/>
                <a:ea typeface="Arial" pitchFamily="34" charset="-122"/>
                <a:cs typeface="Times New Roman" panose="02020603050405020304" pitchFamily="18" charset="0"/>
              </a:rPr>
              <a:t>Alert generation &amp; API integration</a:t>
            </a:r>
            <a:endParaRPr lang="en-US" sz="1400" dirty="0">
              <a:latin typeface="Times New Roman" panose="02020603050405020304" pitchFamily="18" charset="0"/>
              <a:cs typeface="Times New Roman" panose="02020603050405020304" pitchFamily="18" charset="0"/>
            </a:endParaRPr>
          </a:p>
        </p:txBody>
      </p:sp>
      <p:pic>
        <p:nvPicPr>
          <p:cNvPr id="7" name="Image 7">
            <a:extLst>
              <a:ext uri="{FF2B5EF4-FFF2-40B4-BE49-F238E27FC236}">
                <a16:creationId xmlns:a16="http://schemas.microsoft.com/office/drawing/2014/main" id="{6F62412A-83CC-6EA9-B05A-4679B6AF22D6}"/>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System Architecture</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097280"/>
            <a:ext cx="8229600" cy="502920"/>
          </a:xfrm>
          <a:prstGeom prst="rect">
            <a:avLst/>
          </a:prstGeom>
          <a:solidFill>
            <a:srgbClr val="FFFFFF"/>
          </a:solidFill>
          <a:ln/>
        </p:spPr>
        <p:txBody>
          <a:bodyPr/>
          <a:lstStyle/>
          <a:p>
            <a:endParaRPr lang="en-IN"/>
          </a:p>
        </p:txBody>
      </p:sp>
      <p:sp>
        <p:nvSpPr>
          <p:cNvPr id="5" name="Shape 3"/>
          <p:cNvSpPr/>
          <p:nvPr/>
        </p:nvSpPr>
        <p:spPr>
          <a:xfrm>
            <a:off x="457200" y="1097280"/>
            <a:ext cx="73152" cy="502920"/>
          </a:xfrm>
          <a:prstGeom prst="rect">
            <a:avLst/>
          </a:prstGeom>
          <a:solidFill>
            <a:srgbClr val="00A896"/>
          </a:solidFill>
          <a:ln/>
        </p:spPr>
        <p:txBody>
          <a:bodyPr/>
          <a:lstStyle/>
          <a:p>
            <a:endParaRPr lang="en-IN"/>
          </a:p>
        </p:txBody>
      </p:sp>
      <p:sp>
        <p:nvSpPr>
          <p:cNvPr id="6" name="Text 4"/>
          <p:cNvSpPr/>
          <p:nvPr/>
        </p:nvSpPr>
        <p:spPr>
          <a:xfrm>
            <a:off x="640080" y="117043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Edge Layer</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3017520" y="117043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Drone hardware + companion computer for sensing and inference</a:t>
            </a:r>
            <a:endParaRPr lang="en-US" sz="1100" dirty="0">
              <a:latin typeface="Times New Roman" panose="02020603050405020304" pitchFamily="18" charset="0"/>
              <a:cs typeface="Times New Roman" panose="02020603050405020304" pitchFamily="18" charset="0"/>
            </a:endParaRPr>
          </a:p>
        </p:txBody>
      </p:sp>
      <p:sp>
        <p:nvSpPr>
          <p:cNvPr id="8" name="Shape 6"/>
          <p:cNvSpPr/>
          <p:nvPr/>
        </p:nvSpPr>
        <p:spPr>
          <a:xfrm>
            <a:off x="457200" y="1691640"/>
            <a:ext cx="8229600" cy="502920"/>
          </a:xfrm>
          <a:prstGeom prst="rect">
            <a:avLst/>
          </a:prstGeom>
          <a:solidFill>
            <a:srgbClr val="FFFFFF"/>
          </a:solidFill>
          <a:ln/>
        </p:spPr>
        <p:txBody>
          <a:bodyPr/>
          <a:lstStyle/>
          <a:p>
            <a:endParaRPr lang="en-IN"/>
          </a:p>
        </p:txBody>
      </p:sp>
      <p:sp>
        <p:nvSpPr>
          <p:cNvPr id="9" name="Shape 7"/>
          <p:cNvSpPr/>
          <p:nvPr/>
        </p:nvSpPr>
        <p:spPr>
          <a:xfrm>
            <a:off x="457200" y="1691640"/>
            <a:ext cx="73152" cy="502920"/>
          </a:xfrm>
          <a:prstGeom prst="rect">
            <a:avLst/>
          </a:prstGeom>
          <a:solidFill>
            <a:srgbClr val="00A896"/>
          </a:solidFill>
          <a:ln/>
        </p:spPr>
        <p:txBody>
          <a:bodyPr/>
          <a:lstStyle/>
          <a:p>
            <a:endParaRPr lang="en-IN"/>
          </a:p>
        </p:txBody>
      </p:sp>
      <p:sp>
        <p:nvSpPr>
          <p:cNvPr id="10" name="Text 8"/>
          <p:cNvSpPr/>
          <p:nvPr/>
        </p:nvSpPr>
        <p:spPr>
          <a:xfrm>
            <a:off x="640080" y="176479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Transport Layer</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3017520" y="176479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Secure telemetry (MQTT/HTTP) and LTE/4G with buffering</a:t>
            </a:r>
            <a:endParaRPr lang="en-US" sz="11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2286000"/>
            <a:ext cx="8229600" cy="502920"/>
          </a:xfrm>
          <a:prstGeom prst="rect">
            <a:avLst/>
          </a:prstGeom>
          <a:solidFill>
            <a:srgbClr val="FFFFFF"/>
          </a:solidFill>
          <a:ln/>
        </p:spPr>
        <p:txBody>
          <a:bodyPr/>
          <a:lstStyle/>
          <a:p>
            <a:endParaRPr lang="en-IN"/>
          </a:p>
        </p:txBody>
      </p:sp>
      <p:sp>
        <p:nvSpPr>
          <p:cNvPr id="13" name="Shape 11"/>
          <p:cNvSpPr/>
          <p:nvPr/>
        </p:nvSpPr>
        <p:spPr>
          <a:xfrm>
            <a:off x="457200" y="2286000"/>
            <a:ext cx="73152" cy="502920"/>
          </a:xfrm>
          <a:prstGeom prst="rect">
            <a:avLst/>
          </a:prstGeom>
          <a:solidFill>
            <a:srgbClr val="00A896"/>
          </a:solidFill>
          <a:ln/>
        </p:spPr>
        <p:txBody>
          <a:bodyPr/>
          <a:lstStyle/>
          <a:p>
            <a:endParaRPr lang="en-IN"/>
          </a:p>
        </p:txBody>
      </p:sp>
      <p:sp>
        <p:nvSpPr>
          <p:cNvPr id="14" name="Text 12"/>
          <p:cNvSpPr/>
          <p:nvPr/>
        </p:nvSpPr>
        <p:spPr>
          <a:xfrm>
            <a:off x="640080" y="235915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Ingest Layer</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3017520" y="235915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Cloud API for authentication, validation, and queuing</a:t>
            </a:r>
            <a:endParaRPr lang="en-US" sz="1100" dirty="0">
              <a:latin typeface="Times New Roman" panose="02020603050405020304" pitchFamily="18" charset="0"/>
              <a:cs typeface="Times New Roman" panose="02020603050405020304" pitchFamily="18" charset="0"/>
            </a:endParaRPr>
          </a:p>
        </p:txBody>
      </p:sp>
      <p:sp>
        <p:nvSpPr>
          <p:cNvPr id="16" name="Shape 14"/>
          <p:cNvSpPr/>
          <p:nvPr/>
        </p:nvSpPr>
        <p:spPr>
          <a:xfrm>
            <a:off x="457200" y="2880360"/>
            <a:ext cx="8229600" cy="502920"/>
          </a:xfrm>
          <a:prstGeom prst="rect">
            <a:avLst/>
          </a:prstGeom>
          <a:solidFill>
            <a:srgbClr val="FFFFFF"/>
          </a:solidFill>
          <a:ln/>
        </p:spPr>
        <p:txBody>
          <a:bodyPr/>
          <a:lstStyle/>
          <a:p>
            <a:endParaRPr lang="en-IN"/>
          </a:p>
        </p:txBody>
      </p:sp>
      <p:sp>
        <p:nvSpPr>
          <p:cNvPr id="17" name="Shape 15"/>
          <p:cNvSpPr/>
          <p:nvPr/>
        </p:nvSpPr>
        <p:spPr>
          <a:xfrm>
            <a:off x="457200" y="2880360"/>
            <a:ext cx="73152" cy="502920"/>
          </a:xfrm>
          <a:prstGeom prst="rect">
            <a:avLst/>
          </a:prstGeom>
          <a:solidFill>
            <a:srgbClr val="00A896"/>
          </a:solidFill>
          <a:ln/>
        </p:spPr>
        <p:txBody>
          <a:bodyPr/>
          <a:lstStyle/>
          <a:p>
            <a:endParaRPr lang="en-IN"/>
          </a:p>
        </p:txBody>
      </p:sp>
      <p:sp>
        <p:nvSpPr>
          <p:cNvPr id="18" name="Text 16"/>
          <p:cNvSpPr/>
          <p:nvPr/>
        </p:nvSpPr>
        <p:spPr>
          <a:xfrm>
            <a:off x="640080" y="295351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Processing Layer</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3017520" y="295351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Microservices for fusion, AQI computation, correlation</a:t>
            </a:r>
            <a:endParaRPr lang="en-US" sz="1100" dirty="0">
              <a:latin typeface="Times New Roman" panose="02020603050405020304" pitchFamily="18" charset="0"/>
              <a:cs typeface="Times New Roman" panose="02020603050405020304" pitchFamily="18" charset="0"/>
            </a:endParaRPr>
          </a:p>
        </p:txBody>
      </p:sp>
      <p:sp>
        <p:nvSpPr>
          <p:cNvPr id="20" name="Shape 18"/>
          <p:cNvSpPr/>
          <p:nvPr/>
        </p:nvSpPr>
        <p:spPr>
          <a:xfrm>
            <a:off x="457200" y="3474720"/>
            <a:ext cx="8229600" cy="502920"/>
          </a:xfrm>
          <a:prstGeom prst="rect">
            <a:avLst/>
          </a:prstGeom>
          <a:solidFill>
            <a:srgbClr val="FFFFFF"/>
          </a:solidFill>
          <a:ln/>
        </p:spPr>
        <p:txBody>
          <a:bodyPr/>
          <a:lstStyle/>
          <a:p>
            <a:endParaRPr lang="en-IN"/>
          </a:p>
        </p:txBody>
      </p:sp>
      <p:sp>
        <p:nvSpPr>
          <p:cNvPr id="21" name="Shape 19"/>
          <p:cNvSpPr/>
          <p:nvPr/>
        </p:nvSpPr>
        <p:spPr>
          <a:xfrm>
            <a:off x="457200" y="3474720"/>
            <a:ext cx="73152" cy="502920"/>
          </a:xfrm>
          <a:prstGeom prst="rect">
            <a:avLst/>
          </a:prstGeom>
          <a:solidFill>
            <a:srgbClr val="00A896"/>
          </a:solidFill>
          <a:ln/>
        </p:spPr>
        <p:txBody>
          <a:bodyPr/>
          <a:lstStyle/>
          <a:p>
            <a:endParaRPr lang="en-IN"/>
          </a:p>
        </p:txBody>
      </p:sp>
      <p:sp>
        <p:nvSpPr>
          <p:cNvPr id="22" name="Text 20"/>
          <p:cNvSpPr/>
          <p:nvPr/>
        </p:nvSpPr>
        <p:spPr>
          <a:xfrm>
            <a:off x="640080" y="354787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Storage Layer</a:t>
            </a:r>
            <a:endParaRPr lang="en-US" sz="1400" dirty="0">
              <a:latin typeface="Times New Roman" panose="02020603050405020304" pitchFamily="18" charset="0"/>
              <a:cs typeface="Times New Roman" panose="02020603050405020304" pitchFamily="18" charset="0"/>
            </a:endParaRPr>
          </a:p>
        </p:txBody>
      </p:sp>
      <p:sp>
        <p:nvSpPr>
          <p:cNvPr id="23" name="Text 21"/>
          <p:cNvSpPr/>
          <p:nvPr/>
        </p:nvSpPr>
        <p:spPr>
          <a:xfrm>
            <a:off x="3017520" y="354787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Time-series DB, spatial DB (PostGIS), object storage</a:t>
            </a:r>
            <a:endParaRPr lang="en-US" sz="1100" dirty="0">
              <a:latin typeface="Times New Roman" panose="02020603050405020304" pitchFamily="18" charset="0"/>
              <a:cs typeface="Times New Roman" panose="02020603050405020304" pitchFamily="18" charset="0"/>
            </a:endParaRPr>
          </a:p>
        </p:txBody>
      </p:sp>
      <p:sp>
        <p:nvSpPr>
          <p:cNvPr id="24" name="Shape 22"/>
          <p:cNvSpPr/>
          <p:nvPr/>
        </p:nvSpPr>
        <p:spPr>
          <a:xfrm>
            <a:off x="457200" y="4069080"/>
            <a:ext cx="8229600" cy="502920"/>
          </a:xfrm>
          <a:prstGeom prst="rect">
            <a:avLst/>
          </a:prstGeom>
          <a:solidFill>
            <a:srgbClr val="FFFFFF"/>
          </a:solidFill>
          <a:ln/>
        </p:spPr>
        <p:txBody>
          <a:bodyPr/>
          <a:lstStyle/>
          <a:p>
            <a:endParaRPr lang="en-IN"/>
          </a:p>
        </p:txBody>
      </p:sp>
      <p:sp>
        <p:nvSpPr>
          <p:cNvPr id="25" name="Shape 23"/>
          <p:cNvSpPr/>
          <p:nvPr/>
        </p:nvSpPr>
        <p:spPr>
          <a:xfrm>
            <a:off x="457200" y="4069080"/>
            <a:ext cx="73152" cy="502920"/>
          </a:xfrm>
          <a:prstGeom prst="rect">
            <a:avLst/>
          </a:prstGeom>
          <a:solidFill>
            <a:srgbClr val="00A896"/>
          </a:solidFill>
          <a:ln/>
        </p:spPr>
        <p:txBody>
          <a:bodyPr/>
          <a:lstStyle/>
          <a:p>
            <a:endParaRPr lang="en-IN"/>
          </a:p>
        </p:txBody>
      </p:sp>
      <p:sp>
        <p:nvSpPr>
          <p:cNvPr id="26" name="Text 24"/>
          <p:cNvSpPr/>
          <p:nvPr/>
        </p:nvSpPr>
        <p:spPr>
          <a:xfrm>
            <a:off x="640080" y="4142232"/>
            <a:ext cx="2286000" cy="36576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Presentation Layer</a:t>
            </a:r>
            <a:endParaRPr lang="en-US" sz="1400" dirty="0">
              <a:latin typeface="Times New Roman" panose="02020603050405020304" pitchFamily="18" charset="0"/>
              <a:cs typeface="Times New Roman" panose="02020603050405020304" pitchFamily="18" charset="0"/>
            </a:endParaRPr>
          </a:p>
        </p:txBody>
      </p:sp>
      <p:sp>
        <p:nvSpPr>
          <p:cNvPr id="27" name="Text 25"/>
          <p:cNvSpPr/>
          <p:nvPr/>
        </p:nvSpPr>
        <p:spPr>
          <a:xfrm>
            <a:off x="3017520" y="4142232"/>
            <a:ext cx="5486400" cy="365760"/>
          </a:xfrm>
          <a:prstGeom prst="rect">
            <a:avLst/>
          </a:prstGeom>
          <a:noFill/>
          <a:ln/>
        </p:spPr>
        <p:txBody>
          <a:bodyPr wrap="square" rtlCol="0" anchor="ctr"/>
          <a:lstStyle/>
          <a:p>
            <a:pPr marL="0" indent="0">
              <a:buNone/>
            </a:pPr>
            <a:r>
              <a:rPr lang="en-US" sz="1100" dirty="0">
                <a:latin typeface="Times New Roman" panose="02020603050405020304" pitchFamily="18" charset="0"/>
                <a:ea typeface="Arial" pitchFamily="34" charset="-122"/>
                <a:cs typeface="Times New Roman" panose="02020603050405020304" pitchFamily="18" charset="0"/>
              </a:rPr>
              <a:t>Hotspot mapping engine and dashboard web app</a:t>
            </a:r>
            <a:endParaRPr lang="en-US" sz="1100" dirty="0">
              <a:latin typeface="Times New Roman" panose="02020603050405020304" pitchFamily="18" charset="0"/>
              <a:cs typeface="Times New Roman" panose="02020603050405020304" pitchFamily="18" charset="0"/>
            </a:endParaRPr>
          </a:p>
        </p:txBody>
      </p:sp>
      <p:pic>
        <p:nvPicPr>
          <p:cNvPr id="28" name="Image 7">
            <a:extLst>
              <a:ext uri="{FF2B5EF4-FFF2-40B4-BE49-F238E27FC236}">
                <a16:creationId xmlns:a16="http://schemas.microsoft.com/office/drawing/2014/main" id="{BC7DDDFB-5DB0-8ADF-F639-8A1447999D5F}"/>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Hardware: Flight Platform</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097280"/>
            <a:ext cx="4114800" cy="1188720"/>
          </a:xfrm>
          <a:prstGeom prst="rect">
            <a:avLst/>
          </a:prstGeom>
          <a:solidFill>
            <a:srgbClr val="FFFFFF"/>
          </a:solidFill>
          <a:ln/>
        </p:spPr>
        <p:txBody>
          <a:bodyPr/>
          <a:lstStyle/>
          <a:p>
            <a:endParaRPr lang="en-IN"/>
          </a:p>
        </p:txBody>
      </p:sp>
      <p:sp>
        <p:nvSpPr>
          <p:cNvPr id="5" name="Shape 3"/>
          <p:cNvSpPr/>
          <p:nvPr/>
        </p:nvSpPr>
        <p:spPr>
          <a:xfrm>
            <a:off x="457200" y="1097280"/>
            <a:ext cx="73152" cy="1188720"/>
          </a:xfrm>
          <a:prstGeom prst="rect">
            <a:avLst/>
          </a:prstGeom>
          <a:solidFill>
            <a:srgbClr val="028090"/>
          </a:solidFill>
          <a:ln/>
        </p:spPr>
        <p:txBody>
          <a:bodyPr/>
          <a:lstStyle/>
          <a:p>
            <a:endParaRPr lang="en-IN"/>
          </a:p>
        </p:txBody>
      </p:sp>
      <p:sp>
        <p:nvSpPr>
          <p:cNvPr id="6" name="Text 4"/>
          <p:cNvSpPr/>
          <p:nvPr/>
        </p:nvSpPr>
        <p:spPr>
          <a:xfrm>
            <a:off x="640080" y="1234440"/>
            <a:ext cx="3657600" cy="27432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Airframe &amp; Propulsion</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640080" y="1829478"/>
            <a:ext cx="3749040" cy="640080"/>
          </a:xfrm>
          <a:prstGeom prst="rect">
            <a:avLst/>
          </a:prstGeom>
          <a:noFill/>
          <a:ln/>
        </p:spPr>
        <p:txBody>
          <a:bodyPr wrap="square" rtlCol="0" anchor="ctr"/>
          <a:lstStyle/>
          <a:p>
            <a:pPr marL="0" indent="0">
              <a:buNone/>
            </a:pPr>
            <a:r>
              <a:rPr lang="en-US" sz="1400" b="1" dirty="0">
                <a:latin typeface="Times New Roman" panose="02020603050405020304" pitchFamily="18" charset="0"/>
                <a:ea typeface="Arial" pitchFamily="34" charset="-122"/>
                <a:cs typeface="Times New Roman" panose="02020603050405020304" pitchFamily="18" charset="0"/>
              </a:rPr>
              <a:t>Configuration:</a:t>
            </a:r>
            <a:r>
              <a:rPr lang="en-US" sz="1400" dirty="0">
                <a:latin typeface="Times New Roman" panose="02020603050405020304" pitchFamily="18" charset="0"/>
                <a:ea typeface="Arial" pitchFamily="34" charset="-122"/>
                <a:cs typeface="Times New Roman" panose="02020603050405020304" pitchFamily="18" charset="0"/>
              </a:rPr>
              <a:t> Hexacopter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Motors: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BLDC Motors: MN5008 KV 340(*6)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Power: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6S 22000mAh LiPo battery (40 min flight time)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ESC: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40 AMP</a:t>
            </a:r>
          </a:p>
        </p:txBody>
      </p:sp>
      <p:sp>
        <p:nvSpPr>
          <p:cNvPr id="8" name="Shape 6"/>
          <p:cNvSpPr/>
          <p:nvPr/>
        </p:nvSpPr>
        <p:spPr>
          <a:xfrm>
            <a:off x="4754880" y="1097280"/>
            <a:ext cx="4114800" cy="1188720"/>
          </a:xfrm>
          <a:prstGeom prst="rect">
            <a:avLst/>
          </a:prstGeom>
          <a:solidFill>
            <a:srgbClr val="FFFFFF"/>
          </a:solidFill>
          <a:ln/>
        </p:spPr>
        <p:txBody>
          <a:bodyPr/>
          <a:lstStyle/>
          <a:p>
            <a:endParaRPr lang="en-IN"/>
          </a:p>
        </p:txBody>
      </p:sp>
      <p:sp>
        <p:nvSpPr>
          <p:cNvPr id="9" name="Shape 7"/>
          <p:cNvSpPr/>
          <p:nvPr/>
        </p:nvSpPr>
        <p:spPr>
          <a:xfrm>
            <a:off x="4754880" y="1097280"/>
            <a:ext cx="73152" cy="1188720"/>
          </a:xfrm>
          <a:prstGeom prst="rect">
            <a:avLst/>
          </a:prstGeom>
          <a:solidFill>
            <a:srgbClr val="02C39A"/>
          </a:solidFill>
          <a:ln/>
        </p:spPr>
        <p:txBody>
          <a:bodyPr/>
          <a:lstStyle/>
          <a:p>
            <a:endParaRPr lang="en-IN"/>
          </a:p>
        </p:txBody>
      </p:sp>
      <p:sp>
        <p:nvSpPr>
          <p:cNvPr id="10" name="Text 8"/>
          <p:cNvSpPr/>
          <p:nvPr/>
        </p:nvSpPr>
        <p:spPr>
          <a:xfrm>
            <a:off x="4937760" y="1234440"/>
            <a:ext cx="3657600" cy="27432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Flight Controller &amp; Autopilot</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4937760" y="1794699"/>
            <a:ext cx="3749040" cy="640080"/>
          </a:xfrm>
          <a:prstGeom prst="rect">
            <a:avLst/>
          </a:prstGeom>
          <a:noFill/>
          <a:ln/>
        </p:spPr>
        <p:txBody>
          <a:bodyPr wrap="square" rtlCol="0" anchor="ctr"/>
          <a:lstStyle/>
          <a:p>
            <a:pPr marL="0" indent="0">
              <a:buNone/>
            </a:pPr>
            <a:r>
              <a:rPr lang="en-US" sz="1400" b="1" dirty="0">
                <a:latin typeface="Times New Roman" panose="02020603050405020304" pitchFamily="18" charset="0"/>
                <a:ea typeface="Arial" pitchFamily="34" charset="-122"/>
                <a:cs typeface="Times New Roman" panose="02020603050405020304" pitchFamily="18" charset="0"/>
              </a:rPr>
              <a:t>Hardware: </a:t>
            </a:r>
            <a:r>
              <a:rPr lang="en-US" sz="1400" dirty="0">
                <a:latin typeface="Times New Roman" panose="02020603050405020304" pitchFamily="18" charset="0"/>
                <a:ea typeface="Arial" pitchFamily="34" charset="-122"/>
                <a:cs typeface="Times New Roman" panose="02020603050405020304" pitchFamily="18" charset="0"/>
              </a:rPr>
              <a:t>Cube Orange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Firmware: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CUBE+(AURDOPILOT)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Features: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IMU, barometer, magnetometer, GPS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Capabilities: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Autonomous waypoint navigation, geofencing</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668907" y="3467358"/>
            <a:ext cx="8229600" cy="1188720"/>
          </a:xfrm>
          <a:prstGeom prst="rect">
            <a:avLst/>
          </a:prstGeom>
          <a:solidFill>
            <a:srgbClr val="FFFFFF"/>
          </a:solidFill>
          <a:ln/>
        </p:spPr>
        <p:txBody>
          <a:bodyPr/>
          <a:lstStyle/>
          <a:p>
            <a:r>
              <a:rPr lang="en-US" sz="1400" b="1" dirty="0">
                <a:latin typeface="Times New Roman" panose="02020603050405020304" pitchFamily="18" charset="0"/>
                <a:ea typeface="Arial" pitchFamily="34" charset="-122"/>
                <a:cs typeface="Times New Roman" panose="02020603050405020304" pitchFamily="18" charset="0"/>
              </a:rPr>
              <a:t>Hardware: </a:t>
            </a:r>
            <a:r>
              <a:rPr lang="en-US" sz="1400" dirty="0">
                <a:latin typeface="Times New Roman" panose="02020603050405020304" pitchFamily="18" charset="0"/>
                <a:ea typeface="Arial" pitchFamily="34" charset="-122"/>
                <a:cs typeface="Times New Roman" panose="02020603050405020304" pitchFamily="18" charset="0"/>
              </a:rPr>
              <a:t>NVIDIA Jetson Nano / Xavier NX (GPU-accelerated AI inference)    </a:t>
            </a:r>
            <a:r>
              <a:rPr lang="en-US" sz="1400" b="1" dirty="0">
                <a:latin typeface="Times New Roman" panose="02020603050405020304" pitchFamily="18" charset="0"/>
                <a:ea typeface="Arial" pitchFamily="34" charset="-122"/>
                <a:cs typeface="Times New Roman" panose="02020603050405020304" pitchFamily="18" charset="0"/>
              </a:rPr>
              <a:t>OS: </a:t>
            </a:r>
            <a:r>
              <a:rPr lang="en-US" sz="1400" dirty="0">
                <a:latin typeface="Times New Roman" panose="02020603050405020304" pitchFamily="18" charset="0"/>
                <a:ea typeface="Arial" pitchFamily="34" charset="-122"/>
                <a:cs typeface="Times New Roman" panose="02020603050405020304" pitchFamily="18" charset="0"/>
              </a:rPr>
              <a:t>Ubuntu 20.04/22.04    </a:t>
            </a:r>
          </a:p>
          <a:p>
            <a:endParaRPr lang="en-US" sz="1400" b="1" dirty="0">
              <a:latin typeface="Times New Roman" panose="02020603050405020304" pitchFamily="18" charset="0"/>
              <a:ea typeface="Arial" pitchFamily="34" charset="-122"/>
              <a:cs typeface="Times New Roman" panose="02020603050405020304" pitchFamily="18" charset="0"/>
            </a:endParaRPr>
          </a:p>
          <a:p>
            <a:r>
              <a:rPr lang="en-US" sz="1400" b="1" dirty="0">
                <a:latin typeface="Times New Roman" panose="02020603050405020304" pitchFamily="18" charset="0"/>
                <a:ea typeface="Arial" pitchFamily="34" charset="-122"/>
                <a:cs typeface="Times New Roman" panose="02020603050405020304" pitchFamily="18" charset="0"/>
              </a:rPr>
              <a:t>Middleware: </a:t>
            </a:r>
            <a:r>
              <a:rPr lang="en-US" sz="1400" dirty="0">
                <a:latin typeface="Times New Roman" panose="02020603050405020304" pitchFamily="18" charset="0"/>
                <a:ea typeface="Arial" pitchFamily="34" charset="-122"/>
                <a:cs typeface="Times New Roman" panose="02020603050405020304" pitchFamily="18" charset="0"/>
              </a:rPr>
              <a:t>ROS/ROS2 for sensor fusion and mission control
</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ea typeface="Arial" pitchFamily="34" charset="-122"/>
                <a:cs typeface="Times New Roman" panose="02020603050405020304" pitchFamily="18" charset="0"/>
              </a:rPr>
              <a:t>Edge AI: </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ea typeface="Arial" pitchFamily="34" charset="-122"/>
                <a:cs typeface="Times New Roman" panose="02020603050405020304" pitchFamily="18" charset="0"/>
              </a:rPr>
              <a:t>TensorRT-optimized models for real-time inference (YOLO, thermal processing)    </a:t>
            </a:r>
            <a:r>
              <a:rPr lang="en-US" sz="1400" b="1" dirty="0">
                <a:latin typeface="Times New Roman" panose="02020603050405020304" pitchFamily="18" charset="0"/>
                <a:ea typeface="Arial" pitchFamily="34" charset="-122"/>
                <a:cs typeface="Times New Roman" panose="02020603050405020304" pitchFamily="18" charset="0"/>
              </a:rPr>
              <a:t>Storage: </a:t>
            </a:r>
            <a:r>
              <a:rPr lang="en-US" sz="1400" dirty="0">
                <a:latin typeface="Times New Roman" panose="02020603050405020304" pitchFamily="18" charset="0"/>
                <a:ea typeface="Arial" pitchFamily="34" charset="-122"/>
                <a:cs typeface="Times New Roman" panose="02020603050405020304" pitchFamily="18" charset="0"/>
              </a:rPr>
              <a:t>32GB+ for local buffering during connectivity loss</a:t>
            </a:r>
            <a:endParaRPr lang="en-US" sz="1400" dirty="0">
              <a:latin typeface="Times New Roman" panose="02020603050405020304" pitchFamily="18" charset="0"/>
              <a:cs typeface="Times New Roman" panose="02020603050405020304" pitchFamily="18" charset="0"/>
            </a:endParaRPr>
          </a:p>
        </p:txBody>
      </p:sp>
      <p:sp>
        <p:nvSpPr>
          <p:cNvPr id="13" name="Shape 11"/>
          <p:cNvSpPr/>
          <p:nvPr/>
        </p:nvSpPr>
        <p:spPr>
          <a:xfrm>
            <a:off x="457200" y="2468880"/>
            <a:ext cx="73152" cy="1188720"/>
          </a:xfrm>
          <a:prstGeom prst="rect">
            <a:avLst/>
          </a:prstGeom>
          <a:solidFill>
            <a:srgbClr val="00A896"/>
          </a:solidFill>
          <a:ln/>
        </p:spPr>
        <p:txBody>
          <a:bodyPr/>
          <a:lstStyle/>
          <a:p>
            <a:endParaRPr lang="en-IN"/>
          </a:p>
        </p:txBody>
      </p:sp>
      <p:pic>
        <p:nvPicPr>
          <p:cNvPr id="14" name="Image 7">
            <a:extLst>
              <a:ext uri="{FF2B5EF4-FFF2-40B4-BE49-F238E27FC236}">
                <a16:creationId xmlns:a16="http://schemas.microsoft.com/office/drawing/2014/main" id="{8DC15129-6120-F7BE-55FF-E3EA23C1B74B}"/>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376834"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Hardware: Connection Diagram</a:t>
            </a:r>
          </a:p>
        </p:txBody>
      </p:sp>
      <p:sp>
        <p:nvSpPr>
          <p:cNvPr id="14" name="Rectangle 1">
            <a:extLst>
              <a:ext uri="{FF2B5EF4-FFF2-40B4-BE49-F238E27FC236}">
                <a16:creationId xmlns:a16="http://schemas.microsoft.com/office/drawing/2014/main" id="{946868D1-E0DF-410F-74A0-82922A91065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5" name="Rectangle 2">
            <a:extLst>
              <a:ext uri="{FF2B5EF4-FFF2-40B4-BE49-F238E27FC236}">
                <a16:creationId xmlns:a16="http://schemas.microsoft.com/office/drawing/2014/main" id="{48A801A8-8A15-06EC-00EC-436555901142}"/>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8" name="Picture 17">
            <a:extLst>
              <a:ext uri="{FF2B5EF4-FFF2-40B4-BE49-F238E27FC236}">
                <a16:creationId xmlns:a16="http://schemas.microsoft.com/office/drawing/2014/main" id="{D21075AB-146A-9F6F-5661-62664C738149}"/>
              </a:ext>
            </a:extLst>
          </p:cNvPr>
          <p:cNvPicPr>
            <a:picLocks noChangeAspect="1"/>
          </p:cNvPicPr>
          <p:nvPr/>
        </p:nvPicPr>
        <p:blipFill>
          <a:blip r:embed="rId3"/>
          <a:stretch>
            <a:fillRect/>
          </a:stretch>
        </p:blipFill>
        <p:spPr>
          <a:xfrm>
            <a:off x="391332" y="798161"/>
            <a:ext cx="8376834" cy="4322660"/>
          </a:xfrm>
          <a:prstGeom prst="rect">
            <a:avLst/>
          </a:prstGeom>
        </p:spPr>
      </p:pic>
      <p:pic>
        <p:nvPicPr>
          <p:cNvPr id="3" name="Image 7">
            <a:extLst>
              <a:ext uri="{FF2B5EF4-FFF2-40B4-BE49-F238E27FC236}">
                <a16:creationId xmlns:a16="http://schemas.microsoft.com/office/drawing/2014/main" id="{E37B40ED-4465-99F3-4280-93ACB63A3289}"/>
              </a:ext>
            </a:extLst>
          </p:cNvPr>
          <p:cNvPicPr/>
          <p:nvPr/>
        </p:nvPicPr>
        <p:blipFill>
          <a:blip r:embed="rId4" cstate="print"/>
          <a:stretch>
            <a:fillRect/>
          </a:stretch>
        </p:blipFill>
        <p:spPr>
          <a:xfrm>
            <a:off x="6950990" y="20578"/>
            <a:ext cx="2154264" cy="548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Software &amp; AI Stack</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097280"/>
            <a:ext cx="3931920" cy="155448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5" name="Shape 3"/>
          <p:cNvSpPr/>
          <p:nvPr/>
        </p:nvSpPr>
        <p:spPr>
          <a:xfrm>
            <a:off x="457200" y="1097280"/>
            <a:ext cx="3931920" cy="73152"/>
          </a:xfrm>
          <a:prstGeom prst="rect">
            <a:avLst/>
          </a:prstGeom>
          <a:solidFill>
            <a:srgbClr val="00A89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6" name="Text 4"/>
          <p:cNvSpPr/>
          <p:nvPr/>
        </p:nvSpPr>
        <p:spPr>
          <a:xfrm>
            <a:off x="594360" y="1280160"/>
            <a:ext cx="3657600" cy="32004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AI &amp; Computer Vision</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594360" y="1645920"/>
            <a:ext cx="3657600" cy="914400"/>
          </a:xfrm>
          <a:prstGeom prst="rect">
            <a:avLst/>
          </a:prstGeom>
          <a:noFill/>
          <a:ln/>
        </p:spPr>
        <p:txBody>
          <a:bodyPr wrap="square" rtlCol="0" anchor="ctr"/>
          <a:lstStyle/>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PyTorch / TensorFlow</a:t>
            </a:r>
            <a:endParaRPr lang="en-US" sz="1000" dirty="0">
              <a:latin typeface="Times New Roman" panose="02020603050405020304" pitchFamily="18" charset="0"/>
              <a:cs typeface="Times New Roman" panose="02020603050405020304" pitchFamily="18" charset="0"/>
            </a:endParaRPr>
          </a:p>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YOLOv8/v11</a:t>
            </a:r>
          </a:p>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NVIDIA TensorRT (edge)</a:t>
            </a:r>
            <a:endParaRPr lang="en-US" sz="1000" dirty="0">
              <a:latin typeface="Times New Roman" panose="02020603050405020304" pitchFamily="18" charset="0"/>
              <a:cs typeface="Times New Roman" panose="02020603050405020304" pitchFamily="18" charset="0"/>
            </a:endParaRPr>
          </a:p>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OpenCV preprocessing</a:t>
            </a:r>
            <a:endParaRPr lang="en-US" sz="1000" dirty="0">
              <a:latin typeface="Times New Roman" panose="02020603050405020304" pitchFamily="18" charset="0"/>
              <a:cs typeface="Times New Roman" panose="02020603050405020304" pitchFamily="18" charset="0"/>
            </a:endParaRPr>
          </a:p>
        </p:txBody>
      </p:sp>
      <p:sp>
        <p:nvSpPr>
          <p:cNvPr id="8" name="Shape 6"/>
          <p:cNvSpPr/>
          <p:nvPr/>
        </p:nvSpPr>
        <p:spPr>
          <a:xfrm>
            <a:off x="4754880" y="1097280"/>
            <a:ext cx="3931920" cy="1554480"/>
          </a:xfrm>
          <a:prstGeom prst="rect">
            <a:avLst/>
          </a:prstGeom>
          <a:solidFill>
            <a:srgbClr val="FFFFFF"/>
          </a:solidFill>
          <a:ln/>
        </p:spPr>
        <p:txBody>
          <a:bodyPr/>
          <a:lstStyle/>
          <a:p>
            <a:endParaRPr lang="en-IN" dirty="0">
              <a:latin typeface="Times New Roman" panose="02020603050405020304" pitchFamily="18" charset="0"/>
              <a:cs typeface="Times New Roman" panose="02020603050405020304" pitchFamily="18" charset="0"/>
            </a:endParaRPr>
          </a:p>
        </p:txBody>
      </p:sp>
      <p:sp>
        <p:nvSpPr>
          <p:cNvPr id="9" name="Shape 7"/>
          <p:cNvSpPr/>
          <p:nvPr/>
        </p:nvSpPr>
        <p:spPr>
          <a:xfrm>
            <a:off x="4754880" y="1097280"/>
            <a:ext cx="3931920" cy="73152"/>
          </a:xfrm>
          <a:prstGeom prst="rect">
            <a:avLst/>
          </a:prstGeom>
          <a:solidFill>
            <a:srgbClr val="00A89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0" name="Text 8"/>
          <p:cNvSpPr/>
          <p:nvPr/>
        </p:nvSpPr>
        <p:spPr>
          <a:xfrm>
            <a:off x="4892040" y="1280160"/>
            <a:ext cx="3657600" cy="32004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Backend &amp; Communication</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4892040" y="1645920"/>
            <a:ext cx="3657600" cy="914400"/>
          </a:xfrm>
          <a:prstGeom prst="rect">
            <a:avLst/>
          </a:prstGeom>
          <a:noFill/>
          <a:ln/>
        </p:spPr>
        <p:txBody>
          <a:bodyPr wrap="square" rtlCol="0" anchor="ctr"/>
          <a:lstStyle/>
          <a:p>
            <a:pPr marL="171450" indent="-171450">
              <a:buSzPct val="100000"/>
              <a:buFont typeface="Arial" panose="020B0604020202020204" pitchFamily="34" charset="0"/>
              <a:buChar char="•"/>
            </a:pPr>
            <a:r>
              <a:rPr lang="en-US" sz="1000" dirty="0">
                <a:latin typeface="Times New Roman" panose="02020603050405020304" pitchFamily="18" charset="0"/>
                <a:ea typeface="Arial" pitchFamily="34" charset="-122"/>
                <a:cs typeface="Times New Roman" panose="02020603050405020304" pitchFamily="18" charset="0"/>
              </a:rPr>
              <a:t>C, Python Flask / FastAPI</a:t>
            </a:r>
            <a:endParaRPr lang="en-US" sz="1000" dirty="0">
              <a:latin typeface="Times New Roman" panose="02020603050405020304" pitchFamily="18" charset="0"/>
              <a:cs typeface="Times New Roman" panose="02020603050405020304" pitchFamily="18" charset="0"/>
            </a:endParaRPr>
          </a:p>
          <a:p>
            <a:pPr marL="171450" indent="-171450">
              <a:buSzPct val="10000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Python</a:t>
            </a:r>
          </a:p>
          <a:p>
            <a:pPr marL="171450" indent="-171450">
              <a:buSzPct val="100000"/>
              <a:buFont typeface="Arial" panose="020B0604020202020204" pitchFamily="34" charset="0"/>
              <a:buChar char="•"/>
            </a:pPr>
            <a:r>
              <a:rPr lang="en-US" sz="1000" dirty="0">
                <a:latin typeface="Times New Roman" panose="02020603050405020304" pitchFamily="18" charset="0"/>
                <a:ea typeface="Arial" pitchFamily="34" charset="-122"/>
                <a:cs typeface="Times New Roman" panose="02020603050405020304" pitchFamily="18" charset="0"/>
              </a:rPr>
              <a:t>UART/ I2C</a:t>
            </a:r>
          </a:p>
          <a:p>
            <a:pPr marL="171450" indent="-171450">
              <a:buSzPct val="100000"/>
              <a:buFont typeface="Arial" panose="020B0604020202020204" pitchFamily="34" charset="0"/>
              <a:buChar char="•"/>
            </a:pPr>
            <a:r>
              <a:rPr lang="en-US" sz="1000" dirty="0">
                <a:latin typeface="Times New Roman" panose="02020603050405020304" pitchFamily="18" charset="0"/>
                <a:ea typeface="Arial" pitchFamily="34" charset="-122"/>
                <a:cs typeface="Times New Roman" panose="02020603050405020304" pitchFamily="18" charset="0"/>
              </a:rPr>
              <a:t>MQTT/HTTP </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2926080"/>
            <a:ext cx="3931920" cy="1554480"/>
          </a:xfrm>
          <a:prstGeom prst="rect">
            <a:avLst/>
          </a:prstGeom>
          <a:solidFill>
            <a:srgbClr val="FFFFFF"/>
          </a:solidFill>
          <a:ln/>
        </p:spPr>
        <p:txBody>
          <a:bodyPr/>
          <a:lstStyle/>
          <a:p>
            <a:endParaRPr lang="en-IN"/>
          </a:p>
        </p:txBody>
      </p:sp>
      <p:sp>
        <p:nvSpPr>
          <p:cNvPr id="13" name="Shape 11"/>
          <p:cNvSpPr/>
          <p:nvPr/>
        </p:nvSpPr>
        <p:spPr>
          <a:xfrm>
            <a:off x="457200" y="2926080"/>
            <a:ext cx="3931920" cy="73152"/>
          </a:xfrm>
          <a:prstGeom prst="rect">
            <a:avLst/>
          </a:prstGeom>
          <a:solidFill>
            <a:srgbClr val="00A89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594360" y="3108960"/>
            <a:ext cx="3657600" cy="32004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Geospatial &amp; Mapping</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594360" y="3474720"/>
            <a:ext cx="3657600" cy="914400"/>
          </a:xfrm>
          <a:prstGeom prst="rect">
            <a:avLst/>
          </a:prstGeom>
          <a:noFill/>
          <a:ln/>
        </p:spPr>
        <p:txBody>
          <a:bodyPr wrap="square" rtlCol="0" anchor="ctr"/>
          <a:lstStyle/>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QGIS for analysis</a:t>
            </a:r>
            <a:endParaRPr lang="en-US" sz="1000" dirty="0">
              <a:latin typeface="Times New Roman" panose="02020603050405020304" pitchFamily="18" charset="0"/>
              <a:cs typeface="Times New Roman" panose="02020603050405020304" pitchFamily="18" charset="0"/>
            </a:endParaRPr>
          </a:p>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GeoPandas, Folium</a:t>
            </a:r>
            <a:endParaRPr lang="en-US" sz="1000" dirty="0">
              <a:latin typeface="Times New Roman" panose="02020603050405020304" pitchFamily="18" charset="0"/>
              <a:cs typeface="Times New Roman" panose="02020603050405020304" pitchFamily="18" charset="0"/>
            </a:endParaRPr>
          </a:p>
          <a:p>
            <a:pPr marL="342900" indent="-342900">
              <a:buSzPct val="100000"/>
              <a:buChar char="•"/>
            </a:pPr>
            <a:r>
              <a:rPr lang="en-US" sz="1000" dirty="0">
                <a:latin typeface="Times New Roman" panose="02020603050405020304" pitchFamily="18" charset="0"/>
                <a:ea typeface="Arial" pitchFamily="34" charset="-122"/>
                <a:cs typeface="Times New Roman" panose="02020603050405020304" pitchFamily="18" charset="0"/>
              </a:rPr>
              <a:t>RTK + IMU fusion</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4707466" y="2999232"/>
            <a:ext cx="3931920" cy="1554480"/>
          </a:xfrm>
          <a:prstGeom prst="rect">
            <a:avLst/>
          </a:prstGeom>
          <a:solidFill>
            <a:srgbClr val="FFFFFF"/>
          </a:solidFill>
          <a:ln/>
        </p:spPr>
        <p:txBody>
          <a:bodyPr/>
          <a:lstStyle/>
          <a:p>
            <a:endParaRPr lang="en-IN"/>
          </a:p>
        </p:txBody>
      </p:sp>
      <p:sp>
        <p:nvSpPr>
          <p:cNvPr id="17" name="Shape 15"/>
          <p:cNvSpPr/>
          <p:nvPr/>
        </p:nvSpPr>
        <p:spPr>
          <a:xfrm>
            <a:off x="4754880" y="2926080"/>
            <a:ext cx="3931920" cy="73152"/>
          </a:xfrm>
          <a:prstGeom prst="rect">
            <a:avLst/>
          </a:prstGeom>
          <a:solidFill>
            <a:srgbClr val="00A89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8" name="Text 16"/>
          <p:cNvSpPr/>
          <p:nvPr/>
        </p:nvSpPr>
        <p:spPr>
          <a:xfrm>
            <a:off x="4892040" y="3108960"/>
            <a:ext cx="3657600" cy="320040"/>
          </a:xfrm>
          <a:prstGeom prst="rect">
            <a:avLst/>
          </a:prstGeom>
          <a:noFill/>
          <a:ln/>
        </p:spPr>
        <p:txBody>
          <a:bodyPr wrap="square" rtlCol="0" anchor="ctr"/>
          <a:lstStyle/>
          <a:p>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Database &amp; Dashboard</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4892040" y="3490836"/>
            <a:ext cx="3657600" cy="914400"/>
          </a:xfrm>
          <a:prstGeom prst="rect">
            <a:avLst/>
          </a:prstGeom>
          <a:noFill/>
          <a:ln/>
        </p:spPr>
        <p:txBody>
          <a:bodyPr wrap="square" rtlCol="0" anchor="ctr"/>
          <a:lstStyle/>
          <a:p>
            <a:pPr marL="171450" indent="-171450">
              <a:buSzPct val="10000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Pandas, NumPy, Matplotlib, Seaborn</a:t>
            </a:r>
          </a:p>
          <a:p>
            <a:pPr marL="171450" indent="-171450">
              <a:buSzPct val="10000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StreamLit, </a:t>
            </a:r>
          </a:p>
          <a:p>
            <a:pPr marL="171450" indent="-171450">
              <a:buSzPct val="100000"/>
              <a:buFont typeface="Arial" panose="020B0604020202020204" pitchFamily="34" charset="0"/>
              <a:buChar char="•"/>
            </a:pPr>
            <a:r>
              <a:rPr lang="en-US" sz="1000" dirty="0">
                <a:latin typeface="Times New Roman" panose="02020603050405020304" pitchFamily="18" charset="0"/>
                <a:cs typeface="Times New Roman" panose="02020603050405020304" pitchFamily="18" charset="0"/>
              </a:rPr>
              <a:t>AWS – DynamoDB, S3Bucket</a:t>
            </a:r>
          </a:p>
          <a:p>
            <a:pPr marL="171450" indent="-171450">
              <a:buSzPct val="100000"/>
              <a:buFont typeface="Arial" panose="020B0604020202020204" pitchFamily="34" charset="0"/>
              <a:buChar char="•"/>
            </a:pPr>
            <a:endParaRPr lang="en-US" sz="1000" dirty="0">
              <a:latin typeface="Times New Roman" panose="02020603050405020304" pitchFamily="18" charset="0"/>
              <a:cs typeface="Times New Roman" panose="02020603050405020304" pitchFamily="18" charset="0"/>
            </a:endParaRPr>
          </a:p>
        </p:txBody>
      </p:sp>
      <p:pic>
        <p:nvPicPr>
          <p:cNvPr id="20" name="Image 7">
            <a:extLst>
              <a:ext uri="{FF2B5EF4-FFF2-40B4-BE49-F238E27FC236}">
                <a16:creationId xmlns:a16="http://schemas.microsoft.com/office/drawing/2014/main" id="{8F925D73-4A04-E5BB-C5DA-9242D300895D}"/>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System Workflow</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548640" y="114300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5" name="Text 3"/>
          <p:cNvSpPr/>
          <p:nvPr/>
        </p:nvSpPr>
        <p:spPr>
          <a:xfrm>
            <a:off x="548640" y="114300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6" name="Text 4"/>
          <p:cNvSpPr/>
          <p:nvPr/>
        </p:nvSpPr>
        <p:spPr>
          <a:xfrm>
            <a:off x="1097280" y="117043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Data Acquisition</a:t>
            </a:r>
            <a:endParaRPr lang="en-US" sz="1200" dirty="0">
              <a:latin typeface="Times New Roman" panose="02020603050405020304" pitchFamily="18" charset="0"/>
              <a:cs typeface="Times New Roman" panose="02020603050405020304" pitchFamily="18" charset="0"/>
            </a:endParaRPr>
          </a:p>
        </p:txBody>
      </p:sp>
      <p:sp>
        <p:nvSpPr>
          <p:cNvPr id="7" name="Text 5"/>
          <p:cNvSpPr/>
          <p:nvPr/>
        </p:nvSpPr>
        <p:spPr>
          <a:xfrm>
            <a:off x="3017520" y="117043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Drone-mounted sensors collect PM, gas, temp, humidity at multiple altitudes</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731520" y="152704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9" name="Shape 7"/>
          <p:cNvSpPr/>
          <p:nvPr/>
        </p:nvSpPr>
        <p:spPr>
          <a:xfrm>
            <a:off x="548640" y="164592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10" name="Text 8"/>
          <p:cNvSpPr/>
          <p:nvPr/>
        </p:nvSpPr>
        <p:spPr>
          <a:xfrm>
            <a:off x="548640" y="164592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1097280" y="167335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Vision Processing</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3017520" y="167335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GoPro Hero 9 camera detect fire, smoke, waste, potholes using AI models</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731520" y="202996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14" name="Shape 12"/>
          <p:cNvSpPr/>
          <p:nvPr/>
        </p:nvSpPr>
        <p:spPr>
          <a:xfrm>
            <a:off x="548640" y="214884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15" name="Text 13"/>
          <p:cNvSpPr/>
          <p:nvPr/>
        </p:nvSpPr>
        <p:spPr>
          <a:xfrm>
            <a:off x="548640" y="214884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1097280" y="217627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Edge Inference</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3017520" y="217627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Onboard AI classifies events, assigns severity, reduces bandwidth</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731520" y="253288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19" name="Shape 17"/>
          <p:cNvSpPr/>
          <p:nvPr/>
        </p:nvSpPr>
        <p:spPr>
          <a:xfrm>
            <a:off x="548640" y="265176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20" name="Text 18"/>
          <p:cNvSpPr/>
          <p:nvPr/>
        </p:nvSpPr>
        <p:spPr>
          <a:xfrm>
            <a:off x="548640" y="265176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1097280" y="267919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Geo-Tagging</a:t>
            </a:r>
            <a:endParaRPr lang="en-US" sz="1200" dirty="0">
              <a:latin typeface="Times New Roman" panose="02020603050405020304" pitchFamily="18" charset="0"/>
              <a:cs typeface="Times New Roman" panose="02020603050405020304" pitchFamily="18" charset="0"/>
            </a:endParaRPr>
          </a:p>
        </p:txBody>
      </p:sp>
      <p:sp>
        <p:nvSpPr>
          <p:cNvPr id="22" name="Text 20"/>
          <p:cNvSpPr/>
          <p:nvPr/>
        </p:nvSpPr>
        <p:spPr>
          <a:xfrm>
            <a:off x="3017520" y="267919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GPS/RTK provides precise coordinates, data timestamped</a:t>
            </a:r>
            <a:endParaRPr lang="en-US" sz="1200" dirty="0">
              <a:latin typeface="Times New Roman" panose="02020603050405020304" pitchFamily="18" charset="0"/>
              <a:cs typeface="Times New Roman" panose="02020603050405020304" pitchFamily="18" charset="0"/>
            </a:endParaRPr>
          </a:p>
        </p:txBody>
      </p:sp>
      <p:sp>
        <p:nvSpPr>
          <p:cNvPr id="23" name="Shape 21"/>
          <p:cNvSpPr/>
          <p:nvPr/>
        </p:nvSpPr>
        <p:spPr>
          <a:xfrm>
            <a:off x="731520" y="303580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24" name="Shape 22"/>
          <p:cNvSpPr/>
          <p:nvPr/>
        </p:nvSpPr>
        <p:spPr>
          <a:xfrm>
            <a:off x="548640" y="315468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25" name="Text 23"/>
          <p:cNvSpPr/>
          <p:nvPr/>
        </p:nvSpPr>
        <p:spPr>
          <a:xfrm>
            <a:off x="548640" y="315468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26" name="Text 24"/>
          <p:cNvSpPr/>
          <p:nvPr/>
        </p:nvSpPr>
        <p:spPr>
          <a:xfrm>
            <a:off x="1097280" y="318211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Cloud Upload</a:t>
            </a:r>
            <a:endParaRPr lang="en-US" sz="1200" dirty="0">
              <a:latin typeface="Times New Roman" panose="02020603050405020304" pitchFamily="18" charset="0"/>
              <a:cs typeface="Times New Roman" panose="02020603050405020304" pitchFamily="18" charset="0"/>
            </a:endParaRPr>
          </a:p>
        </p:txBody>
      </p:sp>
      <p:sp>
        <p:nvSpPr>
          <p:cNvPr id="27" name="Text 25"/>
          <p:cNvSpPr/>
          <p:nvPr/>
        </p:nvSpPr>
        <p:spPr>
          <a:xfrm>
            <a:off x="3017520" y="318211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Events + telemetry transmitted via LTE/4G to cloud backend</a:t>
            </a:r>
            <a:endParaRPr lang="en-US" sz="1200" dirty="0">
              <a:latin typeface="Times New Roman" panose="02020603050405020304" pitchFamily="18" charset="0"/>
              <a:cs typeface="Times New Roman" panose="02020603050405020304" pitchFamily="18" charset="0"/>
            </a:endParaRPr>
          </a:p>
        </p:txBody>
      </p:sp>
      <p:sp>
        <p:nvSpPr>
          <p:cNvPr id="28" name="Shape 26"/>
          <p:cNvSpPr/>
          <p:nvPr/>
        </p:nvSpPr>
        <p:spPr>
          <a:xfrm>
            <a:off x="731520" y="353872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29" name="Shape 27"/>
          <p:cNvSpPr/>
          <p:nvPr/>
        </p:nvSpPr>
        <p:spPr>
          <a:xfrm>
            <a:off x="548640" y="365760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30" name="Text 28"/>
          <p:cNvSpPr/>
          <p:nvPr/>
        </p:nvSpPr>
        <p:spPr>
          <a:xfrm>
            <a:off x="548640" y="365760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6</a:t>
            </a:r>
            <a:endParaRPr lang="en-US" sz="1200" dirty="0">
              <a:latin typeface="Times New Roman" panose="02020603050405020304" pitchFamily="18" charset="0"/>
              <a:cs typeface="Times New Roman" panose="02020603050405020304" pitchFamily="18" charset="0"/>
            </a:endParaRPr>
          </a:p>
        </p:txBody>
      </p:sp>
      <p:sp>
        <p:nvSpPr>
          <p:cNvPr id="31" name="Text 29"/>
          <p:cNvSpPr/>
          <p:nvPr/>
        </p:nvSpPr>
        <p:spPr>
          <a:xfrm>
            <a:off x="1097280" y="368503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Processing &amp; Fusion</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3017520" y="368503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Microservices compute AQI, correlate sensors+vision, rank anomalies</a:t>
            </a:r>
            <a:endParaRPr lang="en-US" sz="1200" dirty="0">
              <a:latin typeface="Times New Roman" panose="02020603050405020304" pitchFamily="18" charset="0"/>
              <a:cs typeface="Times New Roman" panose="02020603050405020304" pitchFamily="18" charset="0"/>
            </a:endParaRPr>
          </a:p>
        </p:txBody>
      </p:sp>
      <p:sp>
        <p:nvSpPr>
          <p:cNvPr id="33" name="Shape 31"/>
          <p:cNvSpPr/>
          <p:nvPr/>
        </p:nvSpPr>
        <p:spPr>
          <a:xfrm>
            <a:off x="731520" y="4041648"/>
            <a:ext cx="0" cy="73152"/>
          </a:xfrm>
          <a:prstGeom prst="line">
            <a:avLst/>
          </a:prstGeom>
          <a:noFill/>
          <a:ln w="25400">
            <a:solidFill>
              <a:srgbClr val="00A896"/>
            </a:solidFill>
            <a:prstDash val="solid"/>
          </a:ln>
        </p:spPr>
        <p:txBody>
          <a:bodyPr/>
          <a:lstStyle/>
          <a:p>
            <a:endParaRPr lang="en-IN" sz="1200">
              <a:latin typeface="Times New Roman" panose="02020603050405020304" pitchFamily="18" charset="0"/>
              <a:cs typeface="Times New Roman" panose="02020603050405020304" pitchFamily="18" charset="0"/>
            </a:endParaRPr>
          </a:p>
        </p:txBody>
      </p:sp>
      <p:sp>
        <p:nvSpPr>
          <p:cNvPr id="34" name="Shape 32"/>
          <p:cNvSpPr/>
          <p:nvPr/>
        </p:nvSpPr>
        <p:spPr>
          <a:xfrm>
            <a:off x="548640" y="4160520"/>
            <a:ext cx="365760" cy="365760"/>
          </a:xfrm>
          <a:prstGeom prst="ellipse">
            <a:avLst/>
          </a:prstGeom>
          <a:solidFill>
            <a:srgbClr val="028090"/>
          </a:solidFill>
          <a:ln/>
        </p:spPr>
        <p:txBody>
          <a:bodyPr/>
          <a:lstStyle/>
          <a:p>
            <a:endParaRPr lang="en-IN" sz="1200">
              <a:latin typeface="Times New Roman" panose="02020603050405020304" pitchFamily="18" charset="0"/>
              <a:cs typeface="Times New Roman" panose="02020603050405020304" pitchFamily="18" charset="0"/>
            </a:endParaRPr>
          </a:p>
        </p:txBody>
      </p:sp>
      <p:sp>
        <p:nvSpPr>
          <p:cNvPr id="35" name="Text 33"/>
          <p:cNvSpPr/>
          <p:nvPr/>
        </p:nvSpPr>
        <p:spPr>
          <a:xfrm>
            <a:off x="548640" y="4160520"/>
            <a:ext cx="365760" cy="365760"/>
          </a:xfrm>
          <a:prstGeom prst="rect">
            <a:avLst/>
          </a:prstGeom>
          <a:noFill/>
          <a:ln/>
        </p:spPr>
        <p:txBody>
          <a:bodyPr wrap="square" rtlCol="0" anchor="ctr"/>
          <a:lstStyle/>
          <a:p>
            <a:pPr marL="0" indent="0" algn="ctr">
              <a:buNone/>
            </a:pPr>
            <a:r>
              <a:rPr lang="en-US" sz="1200" b="1" dirty="0">
                <a:solidFill>
                  <a:srgbClr val="FFFFFF"/>
                </a:solidFill>
                <a:latin typeface="Times New Roman" panose="02020603050405020304" pitchFamily="18" charset="0"/>
                <a:ea typeface="Arial" pitchFamily="34" charset="-122"/>
                <a:cs typeface="Times New Roman" panose="02020603050405020304" pitchFamily="18" charset="0"/>
              </a:rPr>
              <a:t>7</a:t>
            </a:r>
            <a:endParaRPr lang="en-US" sz="1200" dirty="0">
              <a:latin typeface="Times New Roman" panose="02020603050405020304" pitchFamily="18" charset="0"/>
              <a:cs typeface="Times New Roman" panose="02020603050405020304" pitchFamily="18" charset="0"/>
            </a:endParaRPr>
          </a:p>
        </p:txBody>
      </p:sp>
      <p:sp>
        <p:nvSpPr>
          <p:cNvPr id="36" name="Text 34"/>
          <p:cNvSpPr/>
          <p:nvPr/>
        </p:nvSpPr>
        <p:spPr>
          <a:xfrm>
            <a:off x="1097280" y="4187952"/>
            <a:ext cx="1828800" cy="320040"/>
          </a:xfrm>
          <a:prstGeom prst="rect">
            <a:avLst/>
          </a:prstGeom>
          <a:noFill/>
          <a:ln/>
        </p:spPr>
        <p:txBody>
          <a:bodyPr wrap="square" rtlCol="0" anchor="t"/>
          <a:lstStyle/>
          <a:p>
            <a:pPr marL="0" indent="0">
              <a:buNone/>
            </a:pPr>
            <a:r>
              <a:rPr lang="en-US" sz="1200" b="1" dirty="0">
                <a:solidFill>
                  <a:srgbClr val="1E2761"/>
                </a:solidFill>
                <a:latin typeface="Times New Roman" panose="02020603050405020304" pitchFamily="18" charset="0"/>
                <a:ea typeface="Arial" pitchFamily="34" charset="-122"/>
                <a:cs typeface="Times New Roman" panose="02020603050405020304" pitchFamily="18" charset="0"/>
              </a:rPr>
              <a:t>Visualization</a:t>
            </a:r>
            <a:endParaRPr lang="en-US" sz="1200" dirty="0">
              <a:latin typeface="Times New Roman" panose="02020603050405020304" pitchFamily="18" charset="0"/>
              <a:cs typeface="Times New Roman" panose="02020603050405020304" pitchFamily="18" charset="0"/>
            </a:endParaRPr>
          </a:p>
        </p:txBody>
      </p:sp>
      <p:sp>
        <p:nvSpPr>
          <p:cNvPr id="37" name="Text 35"/>
          <p:cNvSpPr/>
          <p:nvPr/>
        </p:nvSpPr>
        <p:spPr>
          <a:xfrm>
            <a:off x="3017520" y="4187952"/>
            <a:ext cx="5486400" cy="320040"/>
          </a:xfrm>
          <a:prstGeom prst="rect">
            <a:avLst/>
          </a:prstGeom>
          <a:noFill/>
          <a:ln/>
        </p:spPr>
        <p:txBody>
          <a:bodyPr wrap="square" rtlCol="0" anchor="t"/>
          <a:lstStyle/>
          <a:p>
            <a:pPr marL="0" indent="0">
              <a:buNone/>
            </a:pPr>
            <a:r>
              <a:rPr lang="en-US" sz="1200" dirty="0">
                <a:latin typeface="Times New Roman" panose="02020603050405020304" pitchFamily="18" charset="0"/>
                <a:ea typeface="Arial" pitchFamily="34" charset="-122"/>
                <a:cs typeface="Times New Roman" panose="02020603050405020304" pitchFamily="18" charset="0"/>
              </a:rPr>
              <a:t>Dashboard displays heatmaps, alerts, trends, APIs for integration</a:t>
            </a:r>
            <a:endParaRPr lang="en-US" sz="1200" dirty="0">
              <a:latin typeface="Times New Roman" panose="02020603050405020304" pitchFamily="18" charset="0"/>
              <a:cs typeface="Times New Roman" panose="02020603050405020304" pitchFamily="18" charset="0"/>
            </a:endParaRPr>
          </a:p>
        </p:txBody>
      </p:sp>
      <p:pic>
        <p:nvPicPr>
          <p:cNvPr id="38" name="Image 7">
            <a:extLst>
              <a:ext uri="{FF2B5EF4-FFF2-40B4-BE49-F238E27FC236}">
                <a16:creationId xmlns:a16="http://schemas.microsoft.com/office/drawing/2014/main" id="{8036FF5B-FA83-B9FB-9F35-5403A4BA7753}"/>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AI Models &amp; Detection</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097280"/>
            <a:ext cx="4114800" cy="1554480"/>
          </a:xfrm>
          <a:prstGeom prst="rect">
            <a:avLst/>
          </a:prstGeom>
          <a:solidFill>
            <a:srgbClr val="FFFFFF"/>
          </a:solidFill>
          <a:ln/>
        </p:spPr>
        <p:txBody>
          <a:bodyPr/>
          <a:lstStyle/>
          <a:p>
            <a:endParaRPr lang="en-IN"/>
          </a:p>
        </p:txBody>
      </p:sp>
      <p:sp>
        <p:nvSpPr>
          <p:cNvPr id="5" name="Shape 3"/>
          <p:cNvSpPr/>
          <p:nvPr/>
        </p:nvSpPr>
        <p:spPr>
          <a:xfrm>
            <a:off x="457200" y="1097280"/>
            <a:ext cx="73152" cy="1554480"/>
          </a:xfrm>
          <a:prstGeom prst="rect">
            <a:avLst/>
          </a:prstGeom>
          <a:solidFill>
            <a:srgbClr val="028090"/>
          </a:solidFill>
          <a:ln/>
        </p:spPr>
        <p:txBody>
          <a:bodyPr/>
          <a:lstStyle/>
          <a:p>
            <a:endParaRPr lang="en-IN"/>
          </a:p>
        </p:txBody>
      </p:sp>
      <p:sp>
        <p:nvSpPr>
          <p:cNvPr id="6" name="Text 4"/>
          <p:cNvSpPr/>
          <p:nvPr/>
        </p:nvSpPr>
        <p:spPr>
          <a:xfrm>
            <a:off x="640080" y="1234440"/>
            <a:ext cx="3657600" cy="274320"/>
          </a:xfrm>
          <a:prstGeom prst="rect">
            <a:avLst/>
          </a:prstGeom>
          <a:noFill/>
          <a:ln/>
        </p:spPr>
        <p:txBody>
          <a:bodyPr wrap="square" rtlCol="0" anchor="ctr"/>
          <a:lstStyle/>
          <a:p>
            <a:pPr marL="0" indent="0">
              <a:buNone/>
            </a:pPr>
            <a:endParaRPr lang="en-US" sz="1400" dirty="0"/>
          </a:p>
        </p:txBody>
      </p:sp>
      <p:sp>
        <p:nvSpPr>
          <p:cNvPr id="7" name="Text 5"/>
          <p:cNvSpPr/>
          <p:nvPr/>
        </p:nvSpPr>
        <p:spPr>
          <a:xfrm>
            <a:off x="638530" y="1541312"/>
            <a:ext cx="3749040" cy="1005840"/>
          </a:xfrm>
          <a:prstGeom prst="rect">
            <a:avLst/>
          </a:prstGeom>
          <a:noFill/>
          <a:ln/>
        </p:spPr>
        <p:txBody>
          <a:bodyPr wrap="square" rtlCol="0" anchor="ctr"/>
          <a:lstStyle/>
          <a:p>
            <a:pPr marL="0" indent="0">
              <a:buNone/>
            </a:pPr>
            <a:r>
              <a:rPr lang="en-US" sz="1200" b="1" dirty="0">
                <a:latin typeface="Times New Roman" panose="02020603050405020304" pitchFamily="18" charset="0"/>
                <a:ea typeface="Arial" pitchFamily="34" charset="-122"/>
                <a:cs typeface="Times New Roman" panose="02020603050405020304" pitchFamily="18" charset="0"/>
              </a:rPr>
              <a:t>Models: </a:t>
            </a:r>
            <a:r>
              <a:rPr lang="en-US" sz="1200" dirty="0">
                <a:latin typeface="Times New Roman" panose="02020603050405020304" pitchFamily="18" charset="0"/>
                <a:ea typeface="Arial" pitchFamily="34" charset="-122"/>
                <a:cs typeface="Times New Roman" panose="02020603050405020304" pitchFamily="18" charset="0"/>
              </a:rPr>
              <a:t>YOLOv8
</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ea typeface="Arial" pitchFamily="34" charset="-122"/>
                <a:cs typeface="Times New Roman" panose="02020603050405020304" pitchFamily="18" charset="0"/>
              </a:rPr>
              <a:t>Detection Targets: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Waste accumulation</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Potholes and road damage</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Blocked drains</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Vehicle accidents</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Smoke plumes
</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ea typeface="Arial" pitchFamily="34" charset="-122"/>
                <a:cs typeface="Times New Roman" panose="02020603050405020304" pitchFamily="18" charset="0"/>
              </a:rPr>
              <a:t>Accuracy: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85-95% detection accuracy on field data</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4754880" y="1097280"/>
            <a:ext cx="4114800" cy="1554480"/>
          </a:xfrm>
          <a:prstGeom prst="rect">
            <a:avLst/>
          </a:prstGeom>
          <a:solidFill>
            <a:srgbClr val="FFFFFF"/>
          </a:solidFill>
          <a:ln/>
        </p:spPr>
        <p:txBody>
          <a:bodyPr/>
          <a:lstStyle/>
          <a:p>
            <a:endParaRPr lang="en-IN"/>
          </a:p>
        </p:txBody>
      </p:sp>
      <p:sp>
        <p:nvSpPr>
          <p:cNvPr id="9" name="Shape 7"/>
          <p:cNvSpPr/>
          <p:nvPr/>
        </p:nvSpPr>
        <p:spPr>
          <a:xfrm>
            <a:off x="4754880" y="1097280"/>
            <a:ext cx="73152" cy="1554480"/>
          </a:xfrm>
          <a:prstGeom prst="rect">
            <a:avLst/>
          </a:prstGeom>
          <a:solidFill>
            <a:srgbClr val="02C39A"/>
          </a:solidFill>
          <a:ln/>
        </p:spPr>
        <p:txBody>
          <a:bodyPr/>
          <a:lstStyle/>
          <a:p>
            <a:endParaRPr lang="en-IN"/>
          </a:p>
        </p:txBody>
      </p:sp>
      <p:sp>
        <p:nvSpPr>
          <p:cNvPr id="11" name="Text 9"/>
          <p:cNvSpPr/>
          <p:nvPr/>
        </p:nvSpPr>
        <p:spPr>
          <a:xfrm>
            <a:off x="4937760" y="1573077"/>
            <a:ext cx="3749040" cy="1005840"/>
          </a:xfrm>
          <a:prstGeom prst="rect">
            <a:avLst/>
          </a:prstGeom>
          <a:noFill/>
          <a:ln/>
        </p:spPr>
        <p:txBody>
          <a:bodyPr wrap="square" rtlCol="0" anchor="ctr"/>
          <a:lstStyle/>
          <a:p>
            <a:r>
              <a:rPr lang="en-US" sz="1200" b="1" dirty="0">
                <a:latin typeface="Times New Roman" panose="02020603050405020304" pitchFamily="18" charset="0"/>
                <a:ea typeface="Arial" pitchFamily="34" charset="-122"/>
                <a:cs typeface="Times New Roman" panose="02020603050405020304" pitchFamily="18" charset="0"/>
              </a:rPr>
              <a:t>Techniques: </a:t>
            </a:r>
            <a:r>
              <a:rPr lang="en-US" sz="1200" dirty="0">
                <a:latin typeface="Times New Roman" panose="02020603050405020304" pitchFamily="18" charset="0"/>
                <a:ea typeface="Arial" pitchFamily="34" charset="-122"/>
                <a:cs typeface="Times New Roman" panose="02020603050405020304" pitchFamily="18" charset="0"/>
              </a:rPr>
              <a:t>Custom YOLO algorithms
</a:t>
            </a: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ea typeface="Arial" pitchFamily="34" charset="-122"/>
                <a:cs typeface="Times New Roman" panose="02020603050405020304" pitchFamily="18" charset="0"/>
              </a:rPr>
              <a:t>Detection Targets:
</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ea typeface="Arial" pitchFamily="34" charset="-122"/>
                <a:cs typeface="Times New Roman" panose="02020603050405020304" pitchFamily="18" charset="0"/>
              </a:rPr>
              <a:t>Fire hotspots</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ea typeface="Arial" pitchFamily="34" charset="-122"/>
                <a:cs typeface="Times New Roman" panose="02020603050405020304" pitchFamily="18" charset="0"/>
              </a:rPr>
              <a:t>Waste burning events</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ea typeface="Arial" pitchFamily="34" charset="-122"/>
                <a:cs typeface="Times New Roman" panose="02020603050405020304" pitchFamily="18" charset="0"/>
              </a:rPr>
              <a:t>Industrial heat sources</a:t>
            </a:r>
            <a:endParaRPr lang="en-US" sz="1200" dirty="0">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200" dirty="0">
                <a:latin typeface="Times New Roman" panose="02020603050405020304" pitchFamily="18" charset="0"/>
                <a:ea typeface="Arial" pitchFamily="34" charset="-122"/>
                <a:cs typeface="Times New Roman" panose="02020603050405020304" pitchFamily="18" charset="0"/>
              </a:rPr>
              <a:t>Biomass combustion</a:t>
            </a:r>
          </a:p>
          <a:p>
            <a:pPr marL="171450" indent="-171450">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ea typeface="Arial" pitchFamily="34" charset="-122"/>
                <a:cs typeface="Times New Roman" panose="02020603050405020304" pitchFamily="18" charset="0"/>
              </a:rPr>
              <a:t>Fusion: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Thermal + RGB correlation for validation</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3353832"/>
            <a:ext cx="8229600" cy="1188720"/>
          </a:xfrm>
          <a:prstGeom prst="rect">
            <a:avLst/>
          </a:prstGeom>
          <a:solidFill>
            <a:srgbClr val="FFFFFF"/>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3" name="Shape 11"/>
          <p:cNvSpPr/>
          <p:nvPr/>
        </p:nvSpPr>
        <p:spPr>
          <a:xfrm>
            <a:off x="457200" y="3353832"/>
            <a:ext cx="73152" cy="1188720"/>
          </a:xfrm>
          <a:prstGeom prst="rect">
            <a:avLst/>
          </a:prstGeom>
          <a:solidFill>
            <a:srgbClr val="00A896"/>
          </a:solidFill>
          <a:ln/>
        </p:spPr>
        <p:txBody>
          <a:bodyPr/>
          <a:lstStyle/>
          <a:p>
            <a:endParaRPr lang="en-IN">
              <a:latin typeface="Times New Roman" panose="02020603050405020304" pitchFamily="18" charset="0"/>
              <a:cs typeface="Times New Roman" panose="02020603050405020304" pitchFamily="18" charset="0"/>
            </a:endParaRPr>
          </a:p>
        </p:txBody>
      </p:sp>
      <p:sp>
        <p:nvSpPr>
          <p:cNvPr id="14" name="Text 12"/>
          <p:cNvSpPr/>
          <p:nvPr/>
        </p:nvSpPr>
        <p:spPr>
          <a:xfrm>
            <a:off x="640080" y="3312765"/>
            <a:ext cx="7315200" cy="27432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Multi-Modal Sensor-Vision Correlation</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640080" y="3764538"/>
            <a:ext cx="7772400" cy="640080"/>
          </a:xfrm>
          <a:prstGeom prst="rect">
            <a:avLst/>
          </a:prstGeom>
          <a:noFill/>
          <a:ln/>
        </p:spPr>
        <p:txBody>
          <a:bodyPr wrap="square" rtlCol="0" anchor="ctr"/>
          <a:lstStyle/>
          <a:p>
            <a:pPr marL="0" indent="0">
              <a:buNone/>
            </a:pPr>
            <a:r>
              <a:rPr lang="en-US" sz="1400" b="1" dirty="0">
                <a:latin typeface="Times New Roman" panose="02020603050405020304" pitchFamily="18" charset="0"/>
                <a:ea typeface="Arial" pitchFamily="34" charset="-122"/>
                <a:cs typeface="Times New Roman" panose="02020603050405020304" pitchFamily="18" charset="0"/>
              </a:rPr>
              <a:t>Spatio-Temporal Matching: </a:t>
            </a:r>
            <a:r>
              <a:rPr lang="en-US" sz="1400" dirty="0">
                <a:latin typeface="Times New Roman" panose="02020603050405020304" pitchFamily="18" charset="0"/>
                <a:ea typeface="Arial" pitchFamily="34" charset="-122"/>
                <a:cs typeface="Times New Roman" panose="02020603050405020304" pitchFamily="18" charset="0"/>
              </a:rPr>
              <a:t>Link sensor spikes with visual detections (±50m, ±30s)    </a:t>
            </a:r>
            <a:r>
              <a:rPr lang="en-US" sz="1400" b="1" dirty="0">
                <a:latin typeface="Times New Roman" panose="02020603050405020304" pitchFamily="18" charset="0"/>
                <a:ea typeface="Arial" pitchFamily="34" charset="-122"/>
                <a:cs typeface="Times New Roman" panose="02020603050405020304" pitchFamily="18" charset="0"/>
              </a:rPr>
              <a:t>Confidence Scoring: </a:t>
            </a:r>
            <a:r>
              <a:rPr lang="en-US" sz="1400" dirty="0">
                <a:latin typeface="Times New Roman" panose="02020603050405020304" pitchFamily="18" charset="0"/>
                <a:ea typeface="Arial" pitchFamily="34" charset="-122"/>
                <a:cs typeface="Times New Roman" panose="02020603050405020304" pitchFamily="18" charset="0"/>
              </a:rPr>
              <a:t>Higher confidence for multi-modal confirmations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Example: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Waste burning = </a:t>
            </a:r>
            <a:r>
              <a:rPr lang="en-US" sz="1400" i="1" dirty="0">
                <a:latin typeface="Times New Roman" panose="02020603050405020304" pitchFamily="18" charset="0"/>
                <a:ea typeface="Arial" pitchFamily="34" charset="-122"/>
                <a:cs typeface="Times New Roman" panose="02020603050405020304" pitchFamily="18" charset="0"/>
              </a:rPr>
              <a:t>Thermal hotspot + PM spike + CO increase + RGB smoke detection</a:t>
            </a:r>
            <a:endParaRPr lang="en-US" sz="1400" dirty="0">
              <a:latin typeface="Times New Roman" panose="02020603050405020304" pitchFamily="18" charset="0"/>
              <a:cs typeface="Times New Roman" panose="02020603050405020304" pitchFamily="18" charset="0"/>
            </a:endParaRPr>
          </a:p>
        </p:txBody>
      </p:sp>
      <p:pic>
        <p:nvPicPr>
          <p:cNvPr id="10" name="Image 7">
            <a:extLst>
              <a:ext uri="{FF2B5EF4-FFF2-40B4-BE49-F238E27FC236}">
                <a16:creationId xmlns:a16="http://schemas.microsoft.com/office/drawing/2014/main" id="{4C1720CE-A773-6550-B634-B4DC65127033}"/>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Key Features &amp; Innovations</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1188720"/>
            <a:ext cx="3931920" cy="1371600"/>
          </a:xfrm>
          <a:prstGeom prst="rect">
            <a:avLst/>
          </a:prstGeom>
          <a:solidFill>
            <a:srgbClr val="028090"/>
          </a:solidFill>
          <a:ln w="25400">
            <a:solidFill>
              <a:srgbClr val="028090"/>
            </a:solidFill>
            <a:prstDash val="solid"/>
          </a:ln>
        </p:spPr>
        <p:txBody>
          <a:bodyPr/>
          <a:lstStyle/>
          <a:p>
            <a:endParaRPr lang="en-IN"/>
          </a:p>
        </p:txBody>
      </p:sp>
      <p:sp>
        <p:nvSpPr>
          <p:cNvPr id="5" name="Text 3"/>
          <p:cNvSpPr/>
          <p:nvPr/>
        </p:nvSpPr>
        <p:spPr>
          <a:xfrm>
            <a:off x="640080" y="1371600"/>
            <a:ext cx="548640" cy="54864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6" name="Text 4"/>
          <p:cNvSpPr/>
          <p:nvPr/>
        </p:nvSpPr>
        <p:spPr>
          <a:xfrm>
            <a:off x="1371600" y="1417320"/>
            <a:ext cx="27432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Mobile Sensing</a:t>
            </a:r>
            <a:endParaRPr lang="en-US" sz="1600" dirty="0"/>
          </a:p>
        </p:txBody>
      </p:sp>
      <p:sp>
        <p:nvSpPr>
          <p:cNvPr id="7" name="Text 5"/>
          <p:cNvSpPr/>
          <p:nvPr/>
        </p:nvSpPr>
        <p:spPr>
          <a:xfrm>
            <a:off x="640080" y="1920240"/>
            <a:ext cx="3566160" cy="54864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Arial" pitchFamily="34" charset="-122"/>
                <a:cs typeface="Times New Roman" panose="02020603050405020304" pitchFamily="18" charset="0"/>
              </a:rPr>
              <a:t>High spatial &amp; vertical resolution vs static stations</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4754880" y="1188720"/>
            <a:ext cx="3931920" cy="1371600"/>
          </a:xfrm>
          <a:prstGeom prst="rect">
            <a:avLst/>
          </a:prstGeom>
          <a:solidFill>
            <a:srgbClr val="028090"/>
          </a:solidFill>
          <a:ln w="25400">
            <a:solidFill>
              <a:srgbClr val="028090"/>
            </a:solidFill>
            <a:prstDash val="solid"/>
          </a:ln>
        </p:spPr>
        <p:txBody>
          <a:bodyPr/>
          <a:lstStyle/>
          <a:p>
            <a:endParaRPr lang="en-IN"/>
          </a:p>
        </p:txBody>
      </p:sp>
      <p:sp>
        <p:nvSpPr>
          <p:cNvPr id="9" name="Text 7"/>
          <p:cNvSpPr/>
          <p:nvPr/>
        </p:nvSpPr>
        <p:spPr>
          <a:xfrm>
            <a:off x="4937760" y="1371600"/>
            <a:ext cx="548640" cy="54864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0" name="Text 8"/>
          <p:cNvSpPr/>
          <p:nvPr/>
        </p:nvSpPr>
        <p:spPr>
          <a:xfrm>
            <a:off x="5669280" y="1417320"/>
            <a:ext cx="27432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Edge Intelligence</a:t>
            </a:r>
            <a:endParaRPr lang="en-US" sz="1600" dirty="0"/>
          </a:p>
        </p:txBody>
      </p:sp>
      <p:sp>
        <p:nvSpPr>
          <p:cNvPr id="11" name="Text 9"/>
          <p:cNvSpPr/>
          <p:nvPr/>
        </p:nvSpPr>
        <p:spPr>
          <a:xfrm>
            <a:off x="4937760" y="1920240"/>
            <a:ext cx="3566160" cy="54864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Arial" pitchFamily="34" charset="-122"/>
                <a:cs typeface="Times New Roman" panose="02020603050405020304" pitchFamily="18" charset="0"/>
              </a:rPr>
              <a:t>Onboard AI reduces bandwidth, enables real-time alerts</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2834640"/>
            <a:ext cx="3931920" cy="1371600"/>
          </a:xfrm>
          <a:prstGeom prst="rect">
            <a:avLst/>
          </a:prstGeom>
          <a:solidFill>
            <a:srgbClr val="028090"/>
          </a:solidFill>
          <a:ln w="25400">
            <a:solidFill>
              <a:srgbClr val="028090"/>
            </a:solidFill>
            <a:prstDash val="solid"/>
          </a:ln>
        </p:spPr>
        <p:txBody>
          <a:bodyPr/>
          <a:lstStyle/>
          <a:p>
            <a:endParaRPr lang="en-IN"/>
          </a:p>
        </p:txBody>
      </p:sp>
      <p:sp>
        <p:nvSpPr>
          <p:cNvPr id="13" name="Text 11"/>
          <p:cNvSpPr/>
          <p:nvPr/>
        </p:nvSpPr>
        <p:spPr>
          <a:xfrm>
            <a:off x="640080" y="3017520"/>
            <a:ext cx="548640" cy="54864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4" name="Text 12"/>
          <p:cNvSpPr/>
          <p:nvPr/>
        </p:nvSpPr>
        <p:spPr>
          <a:xfrm>
            <a:off x="1371600" y="3063240"/>
            <a:ext cx="27432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Multi-Modal Fusion</a:t>
            </a:r>
            <a:endParaRPr lang="en-US" sz="1600" dirty="0"/>
          </a:p>
        </p:txBody>
      </p:sp>
      <p:sp>
        <p:nvSpPr>
          <p:cNvPr id="15" name="Text 13"/>
          <p:cNvSpPr/>
          <p:nvPr/>
        </p:nvSpPr>
        <p:spPr>
          <a:xfrm>
            <a:off x="640080" y="3566160"/>
            <a:ext cx="3566160" cy="54864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Arial" pitchFamily="34" charset="-122"/>
                <a:cs typeface="Times New Roman" panose="02020603050405020304" pitchFamily="18" charset="0"/>
              </a:rPr>
              <a:t>Combines sensor + vision data for validated detections</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4754880" y="2834640"/>
            <a:ext cx="3931920" cy="1371600"/>
          </a:xfrm>
          <a:prstGeom prst="rect">
            <a:avLst/>
          </a:prstGeom>
          <a:solidFill>
            <a:srgbClr val="028090"/>
          </a:solidFill>
          <a:ln w="25400">
            <a:solidFill>
              <a:srgbClr val="028090"/>
            </a:solidFill>
            <a:prstDash val="solid"/>
          </a:ln>
        </p:spPr>
        <p:txBody>
          <a:bodyPr/>
          <a:lstStyle/>
          <a:p>
            <a:endParaRPr lang="en-IN"/>
          </a:p>
        </p:txBody>
      </p:sp>
      <p:sp>
        <p:nvSpPr>
          <p:cNvPr id="17" name="Text 15"/>
          <p:cNvSpPr/>
          <p:nvPr/>
        </p:nvSpPr>
        <p:spPr>
          <a:xfrm>
            <a:off x="4937760" y="3017520"/>
            <a:ext cx="548640" cy="548640"/>
          </a:xfrm>
          <a:prstGeom prst="rect">
            <a:avLst/>
          </a:prstGeom>
          <a:noFill/>
          <a:ln/>
        </p:spPr>
        <p:txBody>
          <a:bodyPr wrap="square" rtlCol="0" anchor="ctr"/>
          <a:lstStyle/>
          <a:p>
            <a:pPr marL="0" indent="0" algn="ctr">
              <a:buNone/>
            </a:pPr>
            <a:r>
              <a:rPr lang="en-US" sz="3200" dirty="0">
                <a:solidFill>
                  <a:srgbClr val="000000"/>
                </a:solidFill>
              </a:rPr>
              <a:t>📊</a:t>
            </a:r>
            <a:endParaRPr lang="en-US" sz="3200" dirty="0"/>
          </a:p>
        </p:txBody>
      </p:sp>
      <p:sp>
        <p:nvSpPr>
          <p:cNvPr id="18" name="Text 16"/>
          <p:cNvSpPr/>
          <p:nvPr/>
        </p:nvSpPr>
        <p:spPr>
          <a:xfrm>
            <a:off x="5669280" y="3063240"/>
            <a:ext cx="2743200" cy="365760"/>
          </a:xfrm>
          <a:prstGeom prst="rect">
            <a:avLst/>
          </a:prstGeom>
          <a:noFill/>
          <a:ln/>
        </p:spPr>
        <p:txBody>
          <a:bodyPr wrap="square" rtlCol="0" anchor="ctr"/>
          <a:lstStyle/>
          <a:p>
            <a:pPr marL="0" indent="0">
              <a:buNone/>
            </a:pPr>
            <a:r>
              <a:rPr lang="en-US" sz="1600" b="1" dirty="0">
                <a:solidFill>
                  <a:srgbClr val="FFFFFF"/>
                </a:solidFill>
                <a:latin typeface="Arial" pitchFamily="34" charset="0"/>
                <a:ea typeface="Arial" pitchFamily="34" charset="-122"/>
                <a:cs typeface="Arial" pitchFamily="34" charset="-120"/>
              </a:rPr>
              <a:t>Actionable Outputs</a:t>
            </a:r>
            <a:endParaRPr lang="en-US" sz="1600" dirty="0"/>
          </a:p>
        </p:txBody>
      </p:sp>
      <p:sp>
        <p:nvSpPr>
          <p:cNvPr id="19" name="Text 17"/>
          <p:cNvSpPr/>
          <p:nvPr/>
        </p:nvSpPr>
        <p:spPr>
          <a:xfrm>
            <a:off x="4937760" y="3566160"/>
            <a:ext cx="3566160" cy="548640"/>
          </a:xfrm>
          <a:prstGeom prst="rect">
            <a:avLst/>
          </a:prstGeom>
          <a:noFill/>
          <a:ln/>
        </p:spPr>
        <p:txBody>
          <a:bodyPr wrap="square" rtlCol="0" anchor="ctr"/>
          <a:lstStyle/>
          <a:p>
            <a:pPr marL="0" indent="0">
              <a:buNone/>
            </a:pPr>
            <a:r>
              <a:rPr lang="en-US" sz="1400" dirty="0">
                <a:solidFill>
                  <a:srgbClr val="FFFFFF"/>
                </a:solidFill>
                <a:latin typeface="Times New Roman" panose="02020603050405020304" pitchFamily="18" charset="0"/>
                <a:ea typeface="Arial" pitchFamily="34" charset="-122"/>
                <a:cs typeface="Times New Roman" panose="02020603050405020304" pitchFamily="18" charset="0"/>
              </a:rPr>
              <a:t>Heatmaps, alerts, reports for rapid municipal response</a:t>
            </a:r>
            <a:endParaRPr lang="en-US" sz="1400" dirty="0">
              <a:latin typeface="Times New Roman" panose="02020603050405020304" pitchFamily="18" charset="0"/>
              <a:cs typeface="Times New Roman" panose="02020603050405020304" pitchFamily="18" charset="0"/>
            </a:endParaRPr>
          </a:p>
        </p:txBody>
      </p:sp>
      <p:sp>
        <p:nvSpPr>
          <p:cNvPr id="20" name="Text 18"/>
          <p:cNvSpPr/>
          <p:nvPr/>
        </p:nvSpPr>
        <p:spPr>
          <a:xfrm>
            <a:off x="914400" y="4480560"/>
            <a:ext cx="7315200" cy="365760"/>
          </a:xfrm>
          <a:prstGeom prst="rect">
            <a:avLst/>
          </a:prstGeom>
          <a:noFill/>
          <a:ln/>
        </p:spPr>
        <p:txBody>
          <a:bodyPr wrap="square" rtlCol="0" anchor="ctr"/>
          <a:lstStyle/>
          <a:p>
            <a:pPr marL="0" indent="0" algn="ctr">
              <a:buNone/>
            </a:pPr>
            <a:r>
              <a:rPr lang="en-US" sz="1400" b="1" i="1" dirty="0">
                <a:solidFill>
                  <a:srgbClr val="028090"/>
                </a:solidFill>
                <a:latin typeface="Times New Roman" panose="02020603050405020304" pitchFamily="18" charset="0"/>
                <a:ea typeface="Arial" pitchFamily="34" charset="-122"/>
                <a:cs typeface="Times New Roman" panose="02020603050405020304" pitchFamily="18" charset="0"/>
              </a:rPr>
              <a:t>Transforms environmental monitoring from static snapshots to dynamic, continuous intelligence</a:t>
            </a:r>
            <a:endParaRPr lang="en-US" sz="1400" dirty="0">
              <a:latin typeface="Times New Roman" panose="02020603050405020304" pitchFamily="18" charset="0"/>
              <a:cs typeface="Times New Roman" panose="02020603050405020304" pitchFamily="18" charset="0"/>
            </a:endParaRPr>
          </a:p>
        </p:txBody>
      </p:sp>
      <p:pic>
        <p:nvPicPr>
          <p:cNvPr id="21" name="Image 7">
            <a:extLst>
              <a:ext uri="{FF2B5EF4-FFF2-40B4-BE49-F238E27FC236}">
                <a16:creationId xmlns:a16="http://schemas.microsoft.com/office/drawing/2014/main" id="{9601638E-7D68-86A0-B668-4669E99CC6FA}"/>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Dashboard &amp; Visualization</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Text 2"/>
          <p:cNvSpPr/>
          <p:nvPr/>
        </p:nvSpPr>
        <p:spPr>
          <a:xfrm>
            <a:off x="457200" y="833124"/>
            <a:ext cx="393192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Dashboard Components</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464949" y="1766922"/>
            <a:ext cx="4843220" cy="2103120"/>
          </a:xfrm>
          <a:prstGeom prst="rect">
            <a:avLst/>
          </a:prstGeom>
          <a:noFill/>
          <a:ln/>
        </p:spPr>
        <p:txBody>
          <a:bodyPr wrap="square" rtlCol="0" anchor="ctr"/>
          <a:lstStyle/>
          <a:p>
            <a:pPr marL="0" indent="0">
              <a:buNone/>
            </a:pPr>
            <a:r>
              <a:rPr lang="en-US" sz="1400" b="1" dirty="0">
                <a:latin typeface="Times New Roman" panose="02020603050405020304" pitchFamily="18" charset="0"/>
                <a:ea typeface="Arial" pitchFamily="34" charset="-122"/>
                <a:cs typeface="Times New Roman" panose="02020603050405020304" pitchFamily="18" charset="0"/>
              </a:rPr>
              <a:t>Live Monitoring: </a:t>
            </a:r>
            <a:r>
              <a:rPr lang="en-US" sz="1400" dirty="0">
                <a:latin typeface="Times New Roman" panose="02020603050405020304" pitchFamily="18" charset="0"/>
                <a:ea typeface="Arial" pitchFamily="34" charset="-122"/>
                <a:cs typeface="Times New Roman" panose="02020603050405020304" pitchFamily="18" charset="0"/>
              </a:rPr>
              <a:t>Real-time fleet status, battery, mission progress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Interactive Map: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AQI heatmap overlays, detection markers, drone positions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Alert Feed: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Scrolling list of detections with severity badges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Analytics: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Time-series charts, trend graphs, comparison tools
</a:t>
            </a: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ea typeface="Arial" pitchFamily="34" charset="-122"/>
                <a:cs typeface="Times New Roman" panose="02020603050405020304" pitchFamily="18" charset="0"/>
              </a:rPr>
              <a:t>Evidence Viewer: </a:t>
            </a: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ea typeface="Arial" pitchFamily="34" charset="-122"/>
                <a:cs typeface="Times New Roman" panose="02020603050405020304" pitchFamily="18" charset="0"/>
              </a:rPr>
              <a:t>RGB/thermal imagery, sensor data, timestamps</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4754880" y="1520615"/>
            <a:ext cx="3931920" cy="2103120"/>
          </a:xfrm>
          <a:prstGeom prst="rect">
            <a:avLst/>
          </a:prstGeom>
          <a:noFill/>
          <a:ln/>
        </p:spPr>
        <p:txBody>
          <a:bodyPr wrap="square" rtlCol="0" anchor="ctr"/>
          <a:lstStyle/>
          <a:p>
            <a:pPr marL="0" indent="0">
              <a:buNone/>
            </a:pPr>
            <a:endParaRPr lang="en-US" sz="1100" dirty="0">
              <a:latin typeface="Times New Roman" panose="02020603050405020304" pitchFamily="18" charset="0"/>
              <a:cs typeface="Times New Roman" panose="02020603050405020304" pitchFamily="18" charset="0"/>
            </a:endParaRPr>
          </a:p>
        </p:txBody>
      </p:sp>
      <p:pic>
        <p:nvPicPr>
          <p:cNvPr id="6" name="Image 7">
            <a:extLst>
              <a:ext uri="{FF2B5EF4-FFF2-40B4-BE49-F238E27FC236}">
                <a16:creationId xmlns:a16="http://schemas.microsoft.com/office/drawing/2014/main" id="{D474BEA6-5B85-00ED-BF1F-A3E2D3A0F754}"/>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11480" y="208617"/>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Security &amp; Resilience</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11480" y="763986"/>
            <a:ext cx="1828800" cy="45720"/>
          </a:xfrm>
          <a:prstGeom prst="rect">
            <a:avLst/>
          </a:prstGeom>
          <a:solidFill>
            <a:srgbClr val="028090"/>
          </a:solidFill>
          <a:ln/>
        </p:spPr>
        <p:txBody>
          <a:bodyPr/>
          <a:lstStyle/>
          <a:p>
            <a:endParaRPr lang="en-IN"/>
          </a:p>
        </p:txBody>
      </p:sp>
      <p:sp>
        <p:nvSpPr>
          <p:cNvPr id="10" name="Text 8"/>
          <p:cNvSpPr/>
          <p:nvPr/>
        </p:nvSpPr>
        <p:spPr>
          <a:xfrm>
            <a:off x="450998" y="906818"/>
            <a:ext cx="3657600" cy="274320"/>
          </a:xfrm>
          <a:prstGeom prst="rect">
            <a:avLst/>
          </a:prstGeom>
          <a:noFill/>
          <a:ln/>
        </p:spPr>
        <p:txBody>
          <a:bodyPr wrap="square" rtlCol="0" anchor="ctr"/>
          <a:lstStyle/>
          <a:p>
            <a:pPr marL="0" indent="0">
              <a:buNone/>
            </a:pPr>
            <a:r>
              <a:rPr lang="en-US" sz="1400" b="1" dirty="0">
                <a:solidFill>
                  <a:srgbClr val="1E2761"/>
                </a:solidFill>
                <a:latin typeface="Times New Roman" panose="02020603050405020304" pitchFamily="18" charset="0"/>
                <a:ea typeface="Arial" pitchFamily="34" charset="-122"/>
                <a:cs typeface="Times New Roman" panose="02020603050405020304" pitchFamily="18" charset="0"/>
              </a:rPr>
              <a:t>Resilience &amp; Fault Tolerance</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450998" y="2346522"/>
            <a:ext cx="3749040" cy="1143000"/>
          </a:xfrm>
          <a:prstGeom prst="rect">
            <a:avLst/>
          </a:prstGeom>
          <a:noFill/>
          <a:ln/>
        </p:spPr>
        <p:txBody>
          <a:bodyPr wrap="square" rtlCol="0" anchor="ctr"/>
          <a:lstStyle/>
          <a:p>
            <a:pPr marL="0" indent="0">
              <a:buNone/>
            </a:pPr>
            <a:r>
              <a:rPr lang="en-US" sz="1200" b="1" dirty="0">
                <a:latin typeface="Times New Roman" panose="02020603050405020304" pitchFamily="18" charset="0"/>
                <a:ea typeface="Arial" pitchFamily="34" charset="-122"/>
                <a:cs typeface="Times New Roman" panose="02020603050405020304" pitchFamily="18" charset="0"/>
              </a:rPr>
              <a:t>Local Buffering: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2-4 hours data storage on drone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Automatic sync when connectivity restored
</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ea typeface="Arial" pitchFamily="34" charset="-122"/>
                <a:cs typeface="Times New Roman" panose="02020603050405020304" pitchFamily="18" charset="0"/>
              </a:rPr>
              <a:t>Retry Logic: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Exponential backoff for failed uploads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Priority queuing (alerts first)
</a:t>
            </a:r>
            <a:endParaRPr lang="en-US" sz="1200" dirty="0">
              <a:latin typeface="Times New Roman" panose="02020603050405020304" pitchFamily="18" charset="0"/>
              <a:cs typeface="Times New Roman" panose="02020603050405020304" pitchFamily="18" charset="0"/>
            </a:endParaRPr>
          </a:p>
          <a:p>
            <a:pPr marL="0" indent="0">
              <a:buNone/>
            </a:pPr>
            <a:r>
              <a:rPr lang="en-US" sz="1200" b="1" dirty="0">
                <a:latin typeface="Times New Roman" panose="02020603050405020304" pitchFamily="18" charset="0"/>
                <a:ea typeface="Arial" pitchFamily="34" charset="-122"/>
                <a:cs typeface="Times New Roman" panose="02020603050405020304" pitchFamily="18" charset="0"/>
              </a:rPr>
              <a:t>High Availability: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Multi-zone cloud deployment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Database replication
</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ea typeface="Arial" pitchFamily="34" charset="-122"/>
                <a:cs typeface="Times New Roman" panose="02020603050405020304" pitchFamily="18" charset="0"/>
              </a:rPr>
              <a:t>  • Automatic failover</a:t>
            </a:r>
            <a:endParaRPr lang="en-US" sz="1200" dirty="0">
              <a:latin typeface="Times New Roman" panose="02020603050405020304" pitchFamily="18" charset="0"/>
              <a:cs typeface="Times New Roman" panose="02020603050405020304" pitchFamily="18" charset="0"/>
            </a:endParaRPr>
          </a:p>
        </p:txBody>
      </p:sp>
      <p:pic>
        <p:nvPicPr>
          <p:cNvPr id="4" name="Image 7">
            <a:extLst>
              <a:ext uri="{FF2B5EF4-FFF2-40B4-BE49-F238E27FC236}">
                <a16:creationId xmlns:a16="http://schemas.microsoft.com/office/drawing/2014/main" id="{515DDEC0-5C48-93FD-904E-6F2960DD2189}"/>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Benefits &amp; Impact</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Text 2"/>
          <p:cNvSpPr/>
          <p:nvPr/>
        </p:nvSpPr>
        <p:spPr>
          <a:xfrm>
            <a:off x="457200" y="1097280"/>
            <a:ext cx="393192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For Cities &amp; Authorities</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457200" y="1439338"/>
            <a:ext cx="3931920" cy="2103120"/>
          </a:xfrm>
          <a:prstGeom prst="rect">
            <a:avLst/>
          </a:prstGeom>
          <a:noFill/>
          <a:ln/>
        </p:spPr>
        <p:txBody>
          <a:bodyPr wrap="square" rtlCol="0" anchor="ctr"/>
          <a:lstStyle/>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Faster detection: Minutes vs hours/days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Localized intervention at pollution sources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Evidence for enforcement &amp; compliance</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Strategic planning with historical trends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Proactive public health advisories</a:t>
            </a: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4754880" y="1097280"/>
            <a:ext cx="3931920" cy="365760"/>
          </a:xfrm>
          <a:prstGeom prst="rect">
            <a:avLst/>
          </a:prstGeom>
          <a:noFill/>
          <a:ln/>
        </p:spPr>
        <p:txBody>
          <a:bodyPr wrap="square" rtlCol="0" anchor="ctr"/>
          <a:lstStyle/>
          <a:p>
            <a:pPr marL="0" indent="0">
              <a:buNone/>
            </a:pPr>
            <a:r>
              <a:rPr lang="en-US" sz="1600" b="1" dirty="0">
                <a:solidFill>
                  <a:srgbClr val="1E2761"/>
                </a:solidFill>
                <a:latin typeface="Times New Roman" panose="02020603050405020304" pitchFamily="18" charset="0"/>
                <a:ea typeface="Arial" pitchFamily="34" charset="-122"/>
                <a:cs typeface="Times New Roman" panose="02020603050405020304" pitchFamily="18" charset="0"/>
              </a:rPr>
              <a:t>For Citizens &amp; Environment</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4754879" y="1554480"/>
            <a:ext cx="4118187" cy="2103120"/>
          </a:xfrm>
          <a:prstGeom prst="rect">
            <a:avLst/>
          </a:prstGeom>
          <a:noFill/>
          <a:ln/>
        </p:spPr>
        <p:txBody>
          <a:bodyPr wrap="square" rtlCol="0" anchor="ctr"/>
          <a:lstStyle/>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Improved air quality through rapid response</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Safer civic infrastructure (potholes, drains)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Transparent environmental data access</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Reduced health risks from pollution exposure</a:t>
            </a:r>
            <a:endParaRPr lang="en-US" sz="1600" dirty="0">
              <a:latin typeface="Times New Roman" panose="02020603050405020304" pitchFamily="18" charset="0"/>
              <a:cs typeface="Times New Roman" panose="02020603050405020304" pitchFamily="18" charset="0"/>
            </a:endParaRPr>
          </a:p>
          <a:p>
            <a:pPr marL="342900" indent="-342900">
              <a:buSzPct val="100000"/>
              <a:buChar char="•"/>
            </a:pPr>
            <a:r>
              <a:rPr lang="en-US" sz="1600" dirty="0">
                <a:solidFill>
                  <a:srgbClr val="2C3E50"/>
                </a:solidFill>
                <a:latin typeface="Times New Roman" panose="02020603050405020304" pitchFamily="18" charset="0"/>
                <a:ea typeface="Arial" pitchFamily="34" charset="-122"/>
                <a:cs typeface="Times New Roman" panose="02020603050405020304" pitchFamily="18" charset="0"/>
              </a:rPr>
              <a:t>Data-driven urban sustainability</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1371600" y="3931920"/>
            <a:ext cx="2011680" cy="822960"/>
          </a:xfrm>
          <a:prstGeom prst="rect">
            <a:avLst/>
          </a:prstGeom>
          <a:solidFill>
            <a:srgbClr val="00A896"/>
          </a:solidFill>
          <a:ln/>
        </p:spPr>
        <p:txBody>
          <a:bodyPr/>
          <a:lstStyle/>
          <a:p>
            <a:endParaRPr lang="en-IN"/>
          </a:p>
        </p:txBody>
      </p:sp>
      <p:sp>
        <p:nvSpPr>
          <p:cNvPr id="9" name="Text 7"/>
          <p:cNvSpPr/>
          <p:nvPr/>
        </p:nvSpPr>
        <p:spPr>
          <a:xfrm>
            <a:off x="1371600" y="4023360"/>
            <a:ext cx="2011680" cy="365760"/>
          </a:xfrm>
          <a:prstGeom prst="rect">
            <a:avLst/>
          </a:prstGeom>
          <a:noFill/>
          <a:ln/>
        </p:spPr>
        <p:txBody>
          <a:bodyPr wrap="square"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10x</a:t>
            </a:r>
            <a:endParaRPr lang="en-US" sz="2800" dirty="0"/>
          </a:p>
        </p:txBody>
      </p:sp>
      <p:sp>
        <p:nvSpPr>
          <p:cNvPr id="10" name="Text 8"/>
          <p:cNvSpPr/>
          <p:nvPr/>
        </p:nvSpPr>
        <p:spPr>
          <a:xfrm>
            <a:off x="1371600" y="4389120"/>
            <a:ext cx="2011680" cy="274320"/>
          </a:xfrm>
          <a:prstGeom prst="rect">
            <a:avLst/>
          </a:prstGeom>
          <a:noFill/>
          <a:ln/>
        </p:spPr>
        <p:txBody>
          <a:bodyPr wrap="square"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Spatial Resolution</a:t>
            </a:r>
            <a:endParaRPr lang="en-US" sz="1000" dirty="0"/>
          </a:p>
        </p:txBody>
      </p:sp>
      <p:sp>
        <p:nvSpPr>
          <p:cNvPr id="11" name="Shape 9"/>
          <p:cNvSpPr/>
          <p:nvPr/>
        </p:nvSpPr>
        <p:spPr>
          <a:xfrm>
            <a:off x="3566160" y="3931920"/>
            <a:ext cx="2011680" cy="822960"/>
          </a:xfrm>
          <a:prstGeom prst="rect">
            <a:avLst/>
          </a:prstGeom>
          <a:solidFill>
            <a:srgbClr val="02C39A"/>
          </a:solidFill>
          <a:ln/>
        </p:spPr>
        <p:txBody>
          <a:bodyPr/>
          <a:lstStyle/>
          <a:p>
            <a:endParaRPr lang="en-IN"/>
          </a:p>
        </p:txBody>
      </p:sp>
      <p:sp>
        <p:nvSpPr>
          <p:cNvPr id="12" name="Text 10"/>
          <p:cNvSpPr/>
          <p:nvPr/>
        </p:nvSpPr>
        <p:spPr>
          <a:xfrm>
            <a:off x="3566160" y="4023360"/>
            <a:ext cx="2011680" cy="365760"/>
          </a:xfrm>
          <a:prstGeom prst="rect">
            <a:avLst/>
          </a:prstGeom>
          <a:noFill/>
          <a:ln/>
        </p:spPr>
        <p:txBody>
          <a:bodyPr wrap="square" rtlCol="0" anchor="ctr"/>
          <a:lstStyle/>
          <a:p>
            <a:pPr marL="0" indent="0" algn="ctr">
              <a:buNone/>
            </a:pPr>
            <a:r>
              <a:rPr lang="en-US" sz="2400" b="1" dirty="0">
                <a:solidFill>
                  <a:srgbClr val="1E2761"/>
                </a:solidFill>
                <a:latin typeface="Arial Black" pitchFamily="34" charset="0"/>
                <a:ea typeface="Arial Black" pitchFamily="34" charset="-122"/>
                <a:cs typeface="Arial Black" pitchFamily="34" charset="-120"/>
              </a:rPr>
              <a:t>Real-Time</a:t>
            </a:r>
            <a:endParaRPr lang="en-US" sz="2400" dirty="0"/>
          </a:p>
        </p:txBody>
      </p:sp>
      <p:sp>
        <p:nvSpPr>
          <p:cNvPr id="13" name="Text 11"/>
          <p:cNvSpPr/>
          <p:nvPr/>
        </p:nvSpPr>
        <p:spPr>
          <a:xfrm>
            <a:off x="3566160" y="4389120"/>
            <a:ext cx="2011680" cy="274320"/>
          </a:xfrm>
          <a:prstGeom prst="rect">
            <a:avLst/>
          </a:prstGeom>
          <a:noFill/>
          <a:ln/>
        </p:spPr>
        <p:txBody>
          <a:bodyPr wrap="square" rtlCol="0" anchor="ctr"/>
          <a:lstStyle/>
          <a:p>
            <a:pPr marL="0" indent="0" algn="ctr">
              <a:buNone/>
            </a:pPr>
            <a:r>
              <a:rPr lang="en-US" sz="1000" dirty="0">
                <a:solidFill>
                  <a:srgbClr val="1E2761"/>
                </a:solidFill>
                <a:latin typeface="Arial" pitchFamily="34" charset="0"/>
                <a:ea typeface="Arial" pitchFamily="34" charset="-122"/>
                <a:cs typeface="Arial" pitchFamily="34" charset="-120"/>
              </a:rPr>
              <a:t>Detection &amp; Alerts</a:t>
            </a:r>
            <a:endParaRPr lang="en-US" sz="1000" dirty="0"/>
          </a:p>
        </p:txBody>
      </p:sp>
      <p:sp>
        <p:nvSpPr>
          <p:cNvPr id="14" name="Shape 12"/>
          <p:cNvSpPr/>
          <p:nvPr/>
        </p:nvSpPr>
        <p:spPr>
          <a:xfrm>
            <a:off x="5760720" y="3931920"/>
            <a:ext cx="2011680" cy="822960"/>
          </a:xfrm>
          <a:prstGeom prst="rect">
            <a:avLst/>
          </a:prstGeom>
          <a:solidFill>
            <a:srgbClr val="028090"/>
          </a:solidFill>
          <a:ln/>
        </p:spPr>
        <p:txBody>
          <a:bodyPr/>
          <a:lstStyle/>
          <a:p>
            <a:endParaRPr lang="en-IN"/>
          </a:p>
        </p:txBody>
      </p:sp>
      <p:sp>
        <p:nvSpPr>
          <p:cNvPr id="15" name="Text 13"/>
          <p:cNvSpPr/>
          <p:nvPr/>
        </p:nvSpPr>
        <p:spPr>
          <a:xfrm>
            <a:off x="5760720" y="4023360"/>
            <a:ext cx="2011680" cy="365760"/>
          </a:xfrm>
          <a:prstGeom prst="rect">
            <a:avLst/>
          </a:prstGeom>
          <a:noFill/>
          <a:ln/>
        </p:spPr>
        <p:txBody>
          <a:bodyPr wrap="square" rtlCol="0" anchor="ctr"/>
          <a:lstStyle/>
          <a:p>
            <a:pPr marL="0" indent="0" algn="ctr">
              <a:buNone/>
            </a:pPr>
            <a:r>
              <a:rPr lang="en-US" sz="2800" b="1" dirty="0">
                <a:solidFill>
                  <a:srgbClr val="FFFFFF"/>
                </a:solidFill>
                <a:latin typeface="Arial Black" pitchFamily="34" charset="0"/>
                <a:ea typeface="Arial Black" pitchFamily="34" charset="-122"/>
                <a:cs typeface="Arial Black" pitchFamily="34" charset="-120"/>
              </a:rPr>
              <a:t>360°</a:t>
            </a:r>
            <a:endParaRPr lang="en-US" sz="2800" dirty="0"/>
          </a:p>
        </p:txBody>
      </p:sp>
      <p:sp>
        <p:nvSpPr>
          <p:cNvPr id="16" name="Text 14"/>
          <p:cNvSpPr/>
          <p:nvPr/>
        </p:nvSpPr>
        <p:spPr>
          <a:xfrm>
            <a:off x="5760720" y="4389120"/>
            <a:ext cx="2011680" cy="274320"/>
          </a:xfrm>
          <a:prstGeom prst="rect">
            <a:avLst/>
          </a:prstGeom>
          <a:noFill/>
          <a:ln/>
        </p:spPr>
        <p:txBody>
          <a:bodyPr wrap="square"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Vertical Profiling</a:t>
            </a:r>
            <a:endParaRPr lang="en-US" sz="1000" dirty="0"/>
          </a:p>
        </p:txBody>
      </p:sp>
      <p:pic>
        <p:nvPicPr>
          <p:cNvPr id="17" name="Image 7">
            <a:extLst>
              <a:ext uri="{FF2B5EF4-FFF2-40B4-BE49-F238E27FC236}">
                <a16:creationId xmlns:a16="http://schemas.microsoft.com/office/drawing/2014/main" id="{705A318B-EA3C-61A9-77D8-93AF6FC41128}"/>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lIns="0" tIns="0" rIns="0" bIns="0" rtlCol="0" anchor="ctr"/>
          <a:lstStyle/>
          <a:p>
            <a:pPr marL="0" indent="0">
              <a:buNone/>
            </a:pPr>
            <a:r>
              <a:rPr lang="en-US" sz="3600" b="1" dirty="0">
                <a:solidFill>
                  <a:srgbClr val="1E2761"/>
                </a:solidFill>
                <a:latin typeface="Times New Roman" panose="02020603050405020304" pitchFamily="18" charset="0"/>
                <a:ea typeface="Arial Black" pitchFamily="34" charset="-122"/>
                <a:cs typeface="Times New Roman" panose="02020603050405020304" pitchFamily="18" charset="0"/>
              </a:rPr>
              <a:t>Future Scope</a:t>
            </a:r>
            <a:endParaRPr lang="en-US" sz="3600" dirty="0">
              <a:latin typeface="Times New Roman" panose="02020603050405020304" pitchFamily="18" charset="0"/>
              <a:cs typeface="Times New Roman" panose="02020603050405020304" pitchFamily="18" charset="0"/>
            </a:endParaRPr>
          </a:p>
        </p:txBody>
      </p:sp>
      <p:sp>
        <p:nvSpPr>
          <p:cNvPr id="3" name="Shape 1"/>
          <p:cNvSpPr/>
          <p:nvPr/>
        </p:nvSpPr>
        <p:spPr>
          <a:xfrm>
            <a:off x="457200" y="777240"/>
            <a:ext cx="1828800" cy="45720"/>
          </a:xfrm>
          <a:prstGeom prst="rect">
            <a:avLst/>
          </a:prstGeom>
          <a:solidFill>
            <a:srgbClr val="028090"/>
          </a:solidFill>
          <a:ln/>
        </p:spPr>
        <p:txBody>
          <a:bodyPr/>
          <a:lstStyle/>
          <a:p>
            <a:endParaRPr lang="en-IN"/>
          </a:p>
        </p:txBody>
      </p:sp>
      <p:sp>
        <p:nvSpPr>
          <p:cNvPr id="4" name="Shape 2"/>
          <p:cNvSpPr/>
          <p:nvPr/>
        </p:nvSpPr>
        <p:spPr>
          <a:xfrm>
            <a:off x="457200" y="934551"/>
            <a:ext cx="3931920" cy="1463040"/>
          </a:xfrm>
          <a:prstGeom prst="rect">
            <a:avLst/>
          </a:prstGeom>
          <a:solidFill>
            <a:srgbClr val="FFFFFF"/>
          </a:solidFill>
          <a:ln/>
        </p:spPr>
        <p:txBody>
          <a:bodyPr/>
          <a:lstStyle/>
          <a:p>
            <a:endParaRPr lang="en-IN"/>
          </a:p>
        </p:txBody>
      </p:sp>
      <p:sp>
        <p:nvSpPr>
          <p:cNvPr id="5" name="Shape 3"/>
          <p:cNvSpPr/>
          <p:nvPr/>
        </p:nvSpPr>
        <p:spPr>
          <a:xfrm>
            <a:off x="457200" y="934551"/>
            <a:ext cx="73152" cy="1463040"/>
          </a:xfrm>
          <a:prstGeom prst="rect">
            <a:avLst/>
          </a:prstGeom>
          <a:solidFill>
            <a:srgbClr val="02C39A"/>
          </a:solidFill>
          <a:ln/>
        </p:spPr>
        <p:txBody>
          <a:bodyPr/>
          <a:lstStyle/>
          <a:p>
            <a:endParaRPr lang="en-IN"/>
          </a:p>
        </p:txBody>
      </p:sp>
      <p:sp>
        <p:nvSpPr>
          <p:cNvPr id="6" name="Text 4"/>
          <p:cNvSpPr/>
          <p:nvPr/>
        </p:nvSpPr>
        <p:spPr>
          <a:xfrm>
            <a:off x="640080" y="1071711"/>
            <a:ext cx="3657600" cy="32004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Advanced Sensors</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640080" y="1437471"/>
            <a:ext cx="3566160" cy="868680"/>
          </a:xfrm>
          <a:prstGeom prst="rect">
            <a:avLst/>
          </a:prstGeom>
          <a:noFill/>
          <a:ln/>
        </p:spPr>
        <p:txBody>
          <a:bodyPr wrap="square" rtlCol="0" anchor="ctr"/>
          <a:lstStyle/>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Acoustic monitoring for noise pollution</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Chemical speciation (mass spec, FTIR)</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Heavy metal detection</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Bioaerosol &amp; allergen sensors</a:t>
            </a:r>
            <a:endParaRPr lang="en-US" sz="1200" dirty="0">
              <a:latin typeface="Times New Roman" panose="02020603050405020304" pitchFamily="18" charset="0"/>
              <a:cs typeface="Times New Roman" panose="02020603050405020304" pitchFamily="18" charset="0"/>
            </a:endParaRPr>
          </a:p>
        </p:txBody>
      </p:sp>
      <p:sp>
        <p:nvSpPr>
          <p:cNvPr id="8" name="Shape 6"/>
          <p:cNvSpPr/>
          <p:nvPr/>
        </p:nvSpPr>
        <p:spPr>
          <a:xfrm>
            <a:off x="4754880" y="934551"/>
            <a:ext cx="3931920" cy="1463040"/>
          </a:xfrm>
          <a:prstGeom prst="rect">
            <a:avLst/>
          </a:prstGeom>
          <a:solidFill>
            <a:srgbClr val="FFFFFF"/>
          </a:solidFill>
          <a:ln/>
        </p:spPr>
        <p:txBody>
          <a:bodyPr/>
          <a:lstStyle/>
          <a:p>
            <a:endParaRPr lang="en-IN"/>
          </a:p>
        </p:txBody>
      </p:sp>
      <p:sp>
        <p:nvSpPr>
          <p:cNvPr id="9" name="Shape 7"/>
          <p:cNvSpPr/>
          <p:nvPr/>
        </p:nvSpPr>
        <p:spPr>
          <a:xfrm>
            <a:off x="4754880" y="934551"/>
            <a:ext cx="73152" cy="1463040"/>
          </a:xfrm>
          <a:prstGeom prst="rect">
            <a:avLst/>
          </a:prstGeom>
          <a:solidFill>
            <a:srgbClr val="02C39A"/>
          </a:solidFill>
          <a:ln/>
        </p:spPr>
        <p:txBody>
          <a:bodyPr/>
          <a:lstStyle/>
          <a:p>
            <a:endParaRPr lang="en-IN"/>
          </a:p>
        </p:txBody>
      </p:sp>
      <p:sp>
        <p:nvSpPr>
          <p:cNvPr id="10" name="Text 8"/>
          <p:cNvSpPr/>
          <p:nvPr/>
        </p:nvSpPr>
        <p:spPr>
          <a:xfrm>
            <a:off x="4937760" y="1071711"/>
            <a:ext cx="3657600" cy="32004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Fleet Orchestration</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4937760" y="1437471"/>
            <a:ext cx="3566160" cy="868680"/>
          </a:xfrm>
          <a:prstGeom prst="rect">
            <a:avLst/>
          </a:prstGeom>
          <a:noFill/>
          <a:ln/>
        </p:spPr>
        <p:txBody>
          <a:bodyPr wrap="square" rtlCol="0" anchor="ctr"/>
          <a:lstStyle/>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Multi-drone swarm coordination</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24/7 continuous coverage</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Automated mission planning</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Collaborative plume tracking</a:t>
            </a:r>
            <a:endParaRPr lang="en-US" sz="1200" dirty="0">
              <a:latin typeface="Times New Roman" panose="02020603050405020304" pitchFamily="18" charset="0"/>
              <a:cs typeface="Times New Roman" panose="02020603050405020304" pitchFamily="18" charset="0"/>
            </a:endParaRPr>
          </a:p>
        </p:txBody>
      </p:sp>
      <p:sp>
        <p:nvSpPr>
          <p:cNvPr id="12" name="Shape 10"/>
          <p:cNvSpPr/>
          <p:nvPr/>
        </p:nvSpPr>
        <p:spPr>
          <a:xfrm>
            <a:off x="457200" y="2516931"/>
            <a:ext cx="3931920" cy="1463040"/>
          </a:xfrm>
          <a:prstGeom prst="rect">
            <a:avLst/>
          </a:prstGeom>
          <a:solidFill>
            <a:srgbClr val="FFFFFF"/>
          </a:solidFill>
          <a:ln/>
        </p:spPr>
        <p:txBody>
          <a:bodyPr/>
          <a:lstStyle/>
          <a:p>
            <a:endParaRPr lang="en-IN"/>
          </a:p>
        </p:txBody>
      </p:sp>
      <p:sp>
        <p:nvSpPr>
          <p:cNvPr id="13" name="Shape 11"/>
          <p:cNvSpPr/>
          <p:nvPr/>
        </p:nvSpPr>
        <p:spPr>
          <a:xfrm>
            <a:off x="457200" y="2516931"/>
            <a:ext cx="73152" cy="1463040"/>
          </a:xfrm>
          <a:prstGeom prst="rect">
            <a:avLst/>
          </a:prstGeom>
          <a:solidFill>
            <a:srgbClr val="02C39A"/>
          </a:solidFill>
          <a:ln/>
        </p:spPr>
        <p:txBody>
          <a:bodyPr/>
          <a:lstStyle/>
          <a:p>
            <a:endParaRPr lang="en-IN"/>
          </a:p>
        </p:txBody>
      </p:sp>
      <p:sp>
        <p:nvSpPr>
          <p:cNvPr id="14" name="Text 12"/>
          <p:cNvSpPr/>
          <p:nvPr/>
        </p:nvSpPr>
        <p:spPr>
          <a:xfrm>
            <a:off x="640080" y="2654091"/>
            <a:ext cx="3657600" cy="32004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Predictive Analytics</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640080" y="3019851"/>
            <a:ext cx="3566160" cy="868680"/>
          </a:xfrm>
          <a:prstGeom prst="rect">
            <a:avLst/>
          </a:prstGeom>
          <a:noFill/>
          <a:ln/>
        </p:spPr>
        <p:txBody>
          <a:bodyPr wrap="square" rtlCol="0" anchor="ctr"/>
          <a:lstStyle/>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6–48-hour AQI forecasting</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Source attribution </a:t>
            </a:r>
            <a:r>
              <a:rPr lang="en-US" sz="1200" dirty="0" err="1">
                <a:latin typeface="Times New Roman" panose="02020603050405020304" pitchFamily="18" charset="0"/>
                <a:ea typeface="Arial" pitchFamily="34" charset="-122"/>
                <a:cs typeface="Times New Roman" panose="02020603050405020304" pitchFamily="18" charset="0"/>
              </a:rPr>
              <a:t>maodeling</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Trend analysis &amp; seasonality</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Policy impact simulation</a:t>
            </a:r>
            <a:endParaRPr lang="en-US" sz="1200" dirty="0">
              <a:latin typeface="Times New Roman" panose="02020603050405020304" pitchFamily="18" charset="0"/>
              <a:cs typeface="Times New Roman" panose="02020603050405020304" pitchFamily="18" charset="0"/>
            </a:endParaRPr>
          </a:p>
        </p:txBody>
      </p:sp>
      <p:sp>
        <p:nvSpPr>
          <p:cNvPr id="16" name="Shape 14"/>
          <p:cNvSpPr/>
          <p:nvPr/>
        </p:nvSpPr>
        <p:spPr>
          <a:xfrm>
            <a:off x="4754880" y="2516931"/>
            <a:ext cx="3931920" cy="1463040"/>
          </a:xfrm>
          <a:prstGeom prst="rect">
            <a:avLst/>
          </a:prstGeom>
          <a:solidFill>
            <a:srgbClr val="FFFFFF"/>
          </a:solidFill>
          <a:ln/>
        </p:spPr>
        <p:txBody>
          <a:bodyPr/>
          <a:lstStyle/>
          <a:p>
            <a:endParaRPr lang="en-IN"/>
          </a:p>
        </p:txBody>
      </p:sp>
      <p:sp>
        <p:nvSpPr>
          <p:cNvPr id="17" name="Shape 15"/>
          <p:cNvSpPr/>
          <p:nvPr/>
        </p:nvSpPr>
        <p:spPr>
          <a:xfrm>
            <a:off x="4754880" y="2516931"/>
            <a:ext cx="73152" cy="1463040"/>
          </a:xfrm>
          <a:prstGeom prst="rect">
            <a:avLst/>
          </a:prstGeom>
          <a:solidFill>
            <a:srgbClr val="02C39A"/>
          </a:solidFill>
          <a:ln/>
        </p:spPr>
        <p:txBody>
          <a:bodyPr/>
          <a:lstStyle/>
          <a:p>
            <a:endParaRPr lang="en-IN"/>
          </a:p>
        </p:txBody>
      </p:sp>
      <p:sp>
        <p:nvSpPr>
          <p:cNvPr id="18" name="Text 16"/>
          <p:cNvSpPr/>
          <p:nvPr/>
        </p:nvSpPr>
        <p:spPr>
          <a:xfrm>
            <a:off x="4937760" y="2654091"/>
            <a:ext cx="3657600" cy="32004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Integration &amp; Scale</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4937760" y="3019851"/>
            <a:ext cx="3566160" cy="868680"/>
          </a:xfrm>
          <a:prstGeom prst="rect">
            <a:avLst/>
          </a:prstGeom>
          <a:noFill/>
          <a:ln/>
        </p:spPr>
        <p:txBody>
          <a:bodyPr wrap="square" rtlCol="0" anchor="ctr"/>
          <a:lstStyle/>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Emergency response systems</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Municipal workflow automation</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Public alert systems</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latin typeface="Times New Roman" panose="02020603050405020304" pitchFamily="18" charset="0"/>
                <a:ea typeface="Arial" pitchFamily="34" charset="-122"/>
                <a:cs typeface="Times New Roman" panose="02020603050405020304" pitchFamily="18" charset="0"/>
              </a:rPr>
              <a:t>Federated learning across cities</a:t>
            </a:r>
            <a:endParaRPr lang="en-US" sz="1200" dirty="0">
              <a:latin typeface="Times New Roman" panose="02020603050405020304" pitchFamily="18" charset="0"/>
              <a:cs typeface="Times New Roman" panose="02020603050405020304" pitchFamily="18" charset="0"/>
            </a:endParaRPr>
          </a:p>
        </p:txBody>
      </p:sp>
      <p:sp>
        <p:nvSpPr>
          <p:cNvPr id="20" name="Text 14">
            <a:extLst>
              <a:ext uri="{FF2B5EF4-FFF2-40B4-BE49-F238E27FC236}">
                <a16:creationId xmlns:a16="http://schemas.microsoft.com/office/drawing/2014/main" id="{35AFB09B-7DC0-9F4D-0D93-FBA7088641C2}"/>
              </a:ext>
            </a:extLst>
          </p:cNvPr>
          <p:cNvSpPr/>
          <p:nvPr/>
        </p:nvSpPr>
        <p:spPr>
          <a:xfrm>
            <a:off x="457200" y="4251960"/>
            <a:ext cx="8229600" cy="274320"/>
          </a:xfrm>
          <a:prstGeom prst="rect">
            <a:avLst/>
          </a:prstGeom>
          <a:noFill/>
          <a:ln/>
        </p:spPr>
        <p:txBody>
          <a:bodyPr wrap="square" rtlCol="0" anchor="ctr"/>
          <a:lstStyle/>
          <a:p>
            <a:pPr marL="0" indent="0">
              <a:buNone/>
            </a:pPr>
            <a:r>
              <a:rPr lang="en-US" sz="1400" b="1" dirty="0">
                <a:solidFill>
                  <a:srgbClr val="028090"/>
                </a:solidFill>
                <a:latin typeface="Times New Roman" panose="02020603050405020304" pitchFamily="18" charset="0"/>
                <a:ea typeface="Arial" pitchFamily="34" charset="-122"/>
                <a:cs typeface="Times New Roman" panose="02020603050405020304" pitchFamily="18" charset="0"/>
              </a:rPr>
              <a:t>Long-term Vision</a:t>
            </a:r>
            <a:endParaRPr lang="en-US" sz="1400" dirty="0">
              <a:latin typeface="Times New Roman" panose="02020603050405020304" pitchFamily="18" charset="0"/>
              <a:cs typeface="Times New Roman" panose="02020603050405020304" pitchFamily="18" charset="0"/>
            </a:endParaRPr>
          </a:p>
        </p:txBody>
      </p:sp>
      <p:sp>
        <p:nvSpPr>
          <p:cNvPr id="21" name="Text 15">
            <a:extLst>
              <a:ext uri="{FF2B5EF4-FFF2-40B4-BE49-F238E27FC236}">
                <a16:creationId xmlns:a16="http://schemas.microsoft.com/office/drawing/2014/main" id="{7E8E551C-C07E-63CB-13AC-4158B0C0C537}"/>
              </a:ext>
            </a:extLst>
          </p:cNvPr>
          <p:cNvSpPr/>
          <p:nvPr/>
        </p:nvSpPr>
        <p:spPr>
          <a:xfrm>
            <a:off x="457200" y="4572000"/>
            <a:ext cx="8229600" cy="365760"/>
          </a:xfrm>
          <a:prstGeom prst="rect">
            <a:avLst/>
          </a:prstGeom>
          <a:noFill/>
          <a:ln/>
        </p:spPr>
        <p:txBody>
          <a:bodyPr wrap="square" rtlCol="0" anchor="ctr"/>
          <a:lstStyle/>
          <a:p>
            <a:pPr marL="0" indent="0" algn="ctr">
              <a:buNone/>
            </a:pPr>
            <a:r>
              <a:rPr lang="en-US" sz="1100" dirty="0">
                <a:latin typeface="Times New Roman" panose="02020603050405020304" pitchFamily="18" charset="0"/>
                <a:ea typeface="Arial" pitchFamily="34" charset="-122"/>
                <a:cs typeface="Times New Roman" panose="02020603050405020304" pitchFamily="18" charset="0"/>
              </a:rPr>
              <a:t>Transform from a monitoring tool into a comprehensive environmental intelligence system driving healthier, more sustainable, and equitable urban environments through the convergence of continuous model learning, regulatory validation, and multi-stakeholder collaboration.</a:t>
            </a:r>
            <a:endParaRPr lang="en-US" sz="1100" dirty="0">
              <a:latin typeface="Times New Roman" panose="02020603050405020304" pitchFamily="18" charset="0"/>
              <a:cs typeface="Times New Roman" panose="02020603050405020304" pitchFamily="18" charset="0"/>
            </a:endParaRPr>
          </a:p>
        </p:txBody>
      </p:sp>
      <p:pic>
        <p:nvPicPr>
          <p:cNvPr id="22" name="Image 7">
            <a:extLst>
              <a:ext uri="{FF2B5EF4-FFF2-40B4-BE49-F238E27FC236}">
                <a16:creationId xmlns:a16="http://schemas.microsoft.com/office/drawing/2014/main" id="{28AA9600-9158-9315-95E4-8C0446909E2F}"/>
              </a:ext>
            </a:extLst>
          </p:cNvPr>
          <p:cNvPicPr/>
          <p:nvPr/>
        </p:nvPicPr>
        <p:blipFill>
          <a:blip r:embed="rId3" cstate="print"/>
          <a:stretch>
            <a:fillRect/>
          </a:stretch>
        </p:blipFill>
        <p:spPr>
          <a:xfrm>
            <a:off x="6950990" y="20578"/>
            <a:ext cx="2154264" cy="548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48640"/>
          </a:xfrm>
          <a:prstGeom prst="rect">
            <a:avLst/>
          </a:prstGeom>
          <a:noFill/>
          <a:ln/>
        </p:spPr>
        <p:txBody>
          <a:bodyPr wrap="square" rtlCol="0" anchor="ctr"/>
          <a:lstStyle/>
          <a:p>
            <a:pPr marL="0" indent="0" algn="ctr">
              <a:buNone/>
            </a:pPr>
            <a:r>
              <a:rPr lang="en-US" sz="4200" b="1" dirty="0">
                <a:solidFill>
                  <a:srgbClr val="FFFFFF"/>
                </a:solidFill>
                <a:latin typeface="Times New Roman" panose="02020603050405020304" pitchFamily="18" charset="0"/>
                <a:ea typeface="Arial Black" pitchFamily="34" charset="-122"/>
                <a:cs typeface="Times New Roman" panose="02020603050405020304" pitchFamily="18" charset="0"/>
              </a:rPr>
              <a:t>Conclusion</a:t>
            </a:r>
            <a:endParaRPr lang="en-US" sz="4200" dirty="0">
              <a:latin typeface="Times New Roman" panose="02020603050405020304" pitchFamily="18" charset="0"/>
              <a:cs typeface="Times New Roman" panose="02020603050405020304" pitchFamily="18" charset="0"/>
            </a:endParaRPr>
          </a:p>
        </p:txBody>
      </p:sp>
      <p:sp>
        <p:nvSpPr>
          <p:cNvPr id="3" name="Text 1"/>
          <p:cNvSpPr/>
          <p:nvPr/>
        </p:nvSpPr>
        <p:spPr>
          <a:xfrm>
            <a:off x="914400" y="1371600"/>
            <a:ext cx="7315200" cy="2560320"/>
          </a:xfrm>
          <a:prstGeom prst="rect">
            <a:avLst/>
          </a:prstGeom>
          <a:noFill/>
          <a:ln/>
        </p:spPr>
        <p:txBody>
          <a:bodyPr wrap="square" rtlCol="0" anchor="ctr"/>
          <a:lstStyle/>
          <a:p>
            <a:pPr marL="0" indent="0" algn="ctr">
              <a:lnSpc>
                <a:spcPts val="2200"/>
              </a:lnSpc>
              <a:buNone/>
            </a:pPr>
            <a:r>
              <a:rPr lang="en-US" sz="1500" b="1" dirty="0">
                <a:solidFill>
                  <a:srgbClr val="02C39A"/>
                </a:solidFill>
                <a:latin typeface="Times New Roman" panose="02020603050405020304" pitchFamily="18" charset="0"/>
                <a:ea typeface="Arial" pitchFamily="34" charset="-122"/>
                <a:cs typeface="Times New Roman" panose="02020603050405020304" pitchFamily="18" charset="0"/>
              </a:rPr>
              <a:t>Gagan Netra </a:t>
            </a: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represents a pattern shift in urban environmental monitoring.</a:t>
            </a:r>
          </a:p>
          <a:p>
            <a:pPr marL="0" indent="0" algn="ctr">
              <a:lnSpc>
                <a:spcPts val="2200"/>
              </a:lnSpc>
              <a:buNone/>
            </a:pPr>
            <a:endParaRPr lang="en-US" sz="1500" dirty="0">
              <a:solidFill>
                <a:srgbClr val="FFFFFF"/>
              </a:solidFill>
              <a:latin typeface="Times New Roman" panose="02020603050405020304" pitchFamily="18" charset="0"/>
              <a:ea typeface="Arial" pitchFamily="34" charset="-122"/>
              <a:cs typeface="Times New Roman" panose="02020603050405020304" pitchFamily="18" charset="0"/>
            </a:endParaRPr>
          </a:p>
          <a:p>
            <a:pPr marL="0" indent="0" algn="ctr">
              <a:lnSpc>
                <a:spcPts val="2200"/>
              </a:lnSpc>
              <a:buNone/>
            </a:pP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By delivering </a:t>
            </a:r>
            <a:r>
              <a:rPr lang="en-US" sz="1500" b="1" dirty="0">
                <a:solidFill>
                  <a:srgbClr val="FFFFFF"/>
                </a:solidFill>
                <a:latin typeface="Times New Roman" panose="02020603050405020304" pitchFamily="18" charset="0"/>
                <a:ea typeface="Arial" pitchFamily="34" charset="-122"/>
                <a:cs typeface="Times New Roman" panose="02020603050405020304" pitchFamily="18" charset="0"/>
              </a:rPr>
              <a:t>faster detection, finer resolution, and actionable evidence</a:t>
            </a: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 it empowers cities to respond effectively to pollution challenges while building the data infrastructure necessary for </a:t>
            </a:r>
            <a:r>
              <a:rPr lang="en-US" sz="1500" b="1" dirty="0">
                <a:solidFill>
                  <a:srgbClr val="02C39A"/>
                </a:solidFill>
                <a:latin typeface="Times New Roman" panose="02020603050405020304" pitchFamily="18" charset="0"/>
                <a:ea typeface="Arial" pitchFamily="34" charset="-122"/>
                <a:cs typeface="Times New Roman" panose="02020603050405020304" pitchFamily="18" charset="0"/>
              </a:rPr>
              <a:t>sustainable urban development</a:t>
            </a:r>
            <a:r>
              <a:rPr lang="en-US" sz="1500" dirty="0">
                <a:solidFill>
                  <a:srgbClr val="FFFFFF"/>
                </a:solidFill>
                <a:latin typeface="Times New Roman" panose="02020603050405020304" pitchFamily="18" charset="0"/>
                <a:ea typeface="Arial" pitchFamily="34" charset="-122"/>
                <a:cs typeface="Times New Roman" panose="02020603050405020304" pitchFamily="18" charset="0"/>
              </a:rPr>
              <a:t>.
</a:t>
            </a:r>
            <a:endParaRPr lang="en-US" sz="1500" dirty="0">
              <a:latin typeface="Times New Roman" panose="02020603050405020304" pitchFamily="18" charset="0"/>
              <a:cs typeface="Times New Roman" panose="02020603050405020304" pitchFamily="18" charset="0"/>
            </a:endParaRPr>
          </a:p>
          <a:p>
            <a:pPr marL="0" indent="0" algn="ctr">
              <a:lnSpc>
                <a:spcPts val="2200"/>
              </a:lnSpc>
              <a:buNone/>
            </a:pPr>
            <a:r>
              <a:rPr lang="en-US" sz="1500" i="1" dirty="0">
                <a:solidFill>
                  <a:srgbClr val="00A896"/>
                </a:solidFill>
                <a:latin typeface="Times New Roman" panose="02020603050405020304" pitchFamily="18" charset="0"/>
                <a:ea typeface="Arial" pitchFamily="34" charset="-122"/>
                <a:cs typeface="Times New Roman" panose="02020603050405020304" pitchFamily="18" charset="0"/>
              </a:rPr>
              <a:t>From reactive crisis response to proactive, predictive governance.</a:t>
            </a:r>
            <a:endParaRPr lang="en-US" sz="1500" dirty="0">
              <a:latin typeface="Times New Roman" panose="02020603050405020304" pitchFamily="18" charset="0"/>
              <a:cs typeface="Times New Roman" panose="02020603050405020304" pitchFamily="18" charset="0"/>
            </a:endParaRPr>
          </a:p>
        </p:txBody>
      </p:sp>
      <p:sp>
        <p:nvSpPr>
          <p:cNvPr id="4" name="Text 2"/>
          <p:cNvSpPr/>
          <p:nvPr/>
        </p:nvSpPr>
        <p:spPr>
          <a:xfrm>
            <a:off x="1371600" y="4297680"/>
            <a:ext cx="6400800" cy="365760"/>
          </a:xfrm>
          <a:prstGeom prst="rect">
            <a:avLst/>
          </a:prstGeom>
          <a:noFill/>
          <a:ln/>
        </p:spPr>
        <p:txBody>
          <a:bodyPr wrap="square" rtlCol="0" anchor="ctr"/>
          <a:lstStyle/>
          <a:p>
            <a:pPr marL="0" indent="0" algn="ctr">
              <a:buNone/>
            </a:pPr>
            <a:r>
              <a:rPr lang="en-US" sz="1600" b="1" i="1" dirty="0">
                <a:solidFill>
                  <a:srgbClr val="02C39A"/>
                </a:solidFill>
                <a:latin typeface="Times New Roman" panose="02020603050405020304" pitchFamily="18" charset="0"/>
                <a:ea typeface="Arial" pitchFamily="34" charset="-122"/>
                <a:cs typeface="Times New Roman" panose="02020603050405020304" pitchFamily="18" charset="0"/>
              </a:rPr>
              <a:t>Building Next-Generation Environmental Intelligence</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marL="0" indent="0" algn="ctr">
              <a:buNone/>
            </a:pPr>
            <a:r>
              <a:rPr lang="en-US" sz="4800" b="1" dirty="0">
                <a:solidFill>
                  <a:srgbClr val="FFFFFF"/>
                </a:solidFill>
                <a:latin typeface="Arial Black" pitchFamily="34" charset="0"/>
                <a:ea typeface="Arial Black" pitchFamily="34" charset="-122"/>
                <a:cs typeface="Arial Black" pitchFamily="34" charset="-120"/>
              </a:rPr>
              <a:t>THANK YOU</a:t>
            </a:r>
            <a:endParaRPr lang="en-US" sz="4800" dirty="0"/>
          </a:p>
        </p:txBody>
      </p:sp>
      <p:sp>
        <p:nvSpPr>
          <p:cNvPr id="3" name="Text 1"/>
          <p:cNvSpPr/>
          <p:nvPr/>
        </p:nvSpPr>
        <p:spPr>
          <a:xfrm>
            <a:off x="457200" y="2194560"/>
            <a:ext cx="8229600" cy="457200"/>
          </a:xfrm>
          <a:prstGeom prst="rect">
            <a:avLst/>
          </a:prstGeom>
          <a:noFill/>
          <a:ln/>
        </p:spPr>
        <p:txBody>
          <a:bodyPr wrap="square" rtlCol="0" anchor="ctr"/>
          <a:lstStyle/>
          <a:p>
            <a:pPr marL="0" indent="0" algn="ctr">
              <a:buNone/>
            </a:pPr>
            <a:r>
              <a:rPr lang="en-US" sz="1600" dirty="0">
                <a:solidFill>
                  <a:srgbClr val="02C39A"/>
                </a:solidFill>
                <a:latin typeface="Times New Roman" panose="02020603050405020304" pitchFamily="18" charset="0"/>
                <a:ea typeface="Arial" pitchFamily="34" charset="-122"/>
                <a:cs typeface="Times New Roman" panose="02020603050405020304" pitchFamily="18" charset="0"/>
              </a:rPr>
              <a:t>Questions &amp; Discussion</a:t>
            </a:r>
            <a:endParaRPr lang="en-US" sz="1600" dirty="0">
              <a:latin typeface="Times New Roman" panose="02020603050405020304" pitchFamily="18" charset="0"/>
              <a:cs typeface="Times New Roman" panose="02020603050405020304" pitchFamily="18" charset="0"/>
            </a:endParaRPr>
          </a:p>
        </p:txBody>
      </p:sp>
      <p:sp>
        <p:nvSpPr>
          <p:cNvPr id="4" name="Text 2"/>
          <p:cNvSpPr/>
          <p:nvPr/>
        </p:nvSpPr>
        <p:spPr>
          <a:xfrm>
            <a:off x="1828800" y="3200400"/>
            <a:ext cx="5486400" cy="914400"/>
          </a:xfrm>
          <a:prstGeom prst="rect">
            <a:avLst/>
          </a:prstGeom>
          <a:noFill/>
          <a:ln/>
        </p:spPr>
        <p:txBody>
          <a:bodyPr wrap="square" rtlCol="0" anchor="ctr"/>
          <a:lstStyle/>
          <a:p>
            <a:pPr marL="0" indent="0" algn="ctr">
              <a:buNone/>
            </a:pPr>
            <a:r>
              <a:rPr lang="en-US" sz="1600" b="1" dirty="0">
                <a:solidFill>
                  <a:srgbClr val="00A896"/>
                </a:solidFill>
                <a:latin typeface="Times New Roman" panose="02020603050405020304" pitchFamily="18" charset="0"/>
                <a:ea typeface="Arial" pitchFamily="34" charset="-122"/>
                <a:cs typeface="Times New Roman" panose="02020603050405020304" pitchFamily="18" charset="0"/>
              </a:rPr>
              <a:t>Team Gagan Netra
</a:t>
            </a:r>
            <a:endParaRPr lang="en-US" sz="1600" b="1" dirty="0">
              <a:latin typeface="Times New Roman" panose="02020603050405020304" pitchFamily="18" charset="0"/>
              <a:cs typeface="Times New Roman" panose="02020603050405020304" pitchFamily="18" charset="0"/>
            </a:endParaRPr>
          </a:p>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C-DAC ACTS, Pune | PG-DUASP
</a:t>
            </a:r>
            <a:endParaRPr lang="en-US" sz="1600" b="1" dirty="0">
              <a:latin typeface="Times New Roman" panose="02020603050405020304" pitchFamily="18" charset="0"/>
              <a:cs typeface="Times New Roman" panose="02020603050405020304" pitchFamily="18" charset="0"/>
            </a:endParaRPr>
          </a:p>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Guide: Dr. Adarsh Kodhanda</a:t>
            </a:r>
            <a:endParaRPr lang="en-US" sz="16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621</TotalTime>
  <Words>1502</Words>
  <Application>Microsoft Office PowerPoint</Application>
  <PresentationFormat>On-screen Show (16:9)</PresentationFormat>
  <Paragraphs>296</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Arial Black</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Gagan Netra: City's Eye, People's Safety</dc:title>
  <dc:subject>PptxGenJS Presentation</dc:subject>
  <dc:creator>Aditya Sharma, Pradhyuman Kumar, Pratik Mahule, Shreyash Jane</dc:creator>
  <cp:lastModifiedBy>Pratik Mahule</cp:lastModifiedBy>
  <cp:revision>282</cp:revision>
  <dcterms:created xsi:type="dcterms:W3CDTF">2026-02-02T13:33:44Z</dcterms:created>
  <dcterms:modified xsi:type="dcterms:W3CDTF">2026-02-03T10:56:46Z</dcterms:modified>
</cp:coreProperties>
</file>